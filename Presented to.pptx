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Montserrat Bold" charset="1" panose="00000800000000000000"/>
      <p:regular r:id="rId21"/>
    </p:embeddedFont>
    <p:embeddedFont>
      <p:font typeface="Inter" charset="1" panose="02000503000000020004"/>
      <p:regular r:id="rId22"/>
    </p:embeddedFont>
    <p:embeddedFont>
      <p:font typeface="Inter Italics" charset="1" panose="02000503000000020004"/>
      <p:regular r:id="rId23"/>
    </p:embeddedFont>
    <p:embeddedFont>
      <p:font typeface="Inter Bold" charset="1" panose="020005030000000200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pn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 Id="rId5" Target="../media/image38.png" Type="http://schemas.openxmlformats.org/officeDocument/2006/relationships/image"/><Relationship Id="rId6" Target="../media/image39.png" Type="http://schemas.openxmlformats.org/officeDocument/2006/relationships/image"/><Relationship Id="rId7" Target="../media/image4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41.png" Type="http://schemas.openxmlformats.org/officeDocument/2006/relationships/image"/><Relationship Id="rId5" Target="../media/image42.pn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png" Type="http://schemas.openxmlformats.org/officeDocument/2006/relationships/image"/><Relationship Id="rId4" Target="../media/image47.png" Type="http://schemas.openxmlformats.org/officeDocument/2006/relationships/image"/><Relationship Id="rId5" Target="../media/image48.png" Type="http://schemas.openxmlformats.org/officeDocument/2006/relationships/image"/><Relationship Id="rId6" Target="../media/image49.png" Type="http://schemas.openxmlformats.org/officeDocument/2006/relationships/image"/><Relationship Id="rId7" Target="../media/image5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 Id="rId3" Target="../media/image5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png" Type="http://schemas.openxmlformats.org/officeDocument/2006/relationships/image"/><Relationship Id="rId4" Target="../media/image5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 Id="rId3" Target="../media/image57.png" Type="http://schemas.openxmlformats.org/officeDocument/2006/relationships/image"/><Relationship Id="rId4" Target="../media/image58.png" Type="http://schemas.openxmlformats.org/officeDocument/2006/relationships/image"/><Relationship Id="rId5" Target="../media/image59.png" Type="http://schemas.openxmlformats.org/officeDocument/2006/relationships/image"/><Relationship Id="rId6" Target="../media/image6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 Id="rId3" Target="../media/image62.png" Type="http://schemas.openxmlformats.org/officeDocument/2006/relationships/image"/><Relationship Id="rId4" Target="../media/image63.png" Type="http://schemas.openxmlformats.org/officeDocument/2006/relationships/image"/><Relationship Id="rId5" Target="../media/image6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 Id="rId3" Target="../media/image66.png" Type="http://schemas.openxmlformats.org/officeDocument/2006/relationships/image"/><Relationship Id="rId4" Target="../media/image67.svg" Type="http://schemas.openxmlformats.org/officeDocument/2006/relationships/image"/><Relationship Id="rId5" Target="../media/image68.png" Type="http://schemas.openxmlformats.org/officeDocument/2006/relationships/image"/><Relationship Id="rId6" Target="../media/image6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sp>
        <p:nvSpPr>
          <p:cNvPr name="Freeform 2" id="2"/>
          <p:cNvSpPr/>
          <p:nvPr/>
        </p:nvSpPr>
        <p:spPr>
          <a:xfrm flipH="false" flipV="false" rot="0">
            <a:off x="10409389" y="2832870"/>
            <a:ext cx="6955384" cy="6120330"/>
          </a:xfrm>
          <a:custGeom>
            <a:avLst/>
            <a:gdLst/>
            <a:ahLst/>
            <a:cxnLst/>
            <a:rect r="r" b="b" t="t" l="l"/>
            <a:pathLst>
              <a:path h="6120330" w="6955384">
                <a:moveTo>
                  <a:pt x="0" y="0"/>
                </a:moveTo>
                <a:lnTo>
                  <a:pt x="6955383" y="0"/>
                </a:lnTo>
                <a:lnTo>
                  <a:pt x="6955383" y="6120331"/>
                </a:lnTo>
                <a:lnTo>
                  <a:pt x="0" y="6120331"/>
                </a:lnTo>
                <a:lnTo>
                  <a:pt x="0" y="0"/>
                </a:lnTo>
                <a:close/>
              </a:path>
            </a:pathLst>
          </a:custGeom>
          <a:blipFill>
            <a:blip r:embed="rId2"/>
            <a:stretch>
              <a:fillRect l="0" t="0" r="0" b="0"/>
            </a:stretch>
          </a:blipFill>
        </p:spPr>
      </p:sp>
      <p:sp>
        <p:nvSpPr>
          <p:cNvPr name="Freeform 3" id="3"/>
          <p:cNvSpPr/>
          <p:nvPr/>
        </p:nvSpPr>
        <p:spPr>
          <a:xfrm flipH="false" flipV="false" rot="0">
            <a:off x="1028700" y="1028700"/>
            <a:ext cx="597073" cy="557133"/>
          </a:xfrm>
          <a:custGeom>
            <a:avLst/>
            <a:gdLst/>
            <a:ahLst/>
            <a:cxnLst/>
            <a:rect r="r" b="b" t="t" l="l"/>
            <a:pathLst>
              <a:path h="557133" w="597073">
                <a:moveTo>
                  <a:pt x="0" y="0"/>
                </a:moveTo>
                <a:lnTo>
                  <a:pt x="597073" y="0"/>
                </a:lnTo>
                <a:lnTo>
                  <a:pt x="597073" y="557133"/>
                </a:lnTo>
                <a:lnTo>
                  <a:pt x="0" y="5571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670800" y="1741957"/>
            <a:ext cx="3776383" cy="2556067"/>
          </a:xfrm>
          <a:custGeom>
            <a:avLst/>
            <a:gdLst/>
            <a:ahLst/>
            <a:cxnLst/>
            <a:rect r="r" b="b" t="t" l="l"/>
            <a:pathLst>
              <a:path h="2556067" w="3776383">
                <a:moveTo>
                  <a:pt x="0" y="0"/>
                </a:moveTo>
                <a:lnTo>
                  <a:pt x="3776383" y="0"/>
                </a:lnTo>
                <a:lnTo>
                  <a:pt x="3776383" y="2556067"/>
                </a:lnTo>
                <a:lnTo>
                  <a:pt x="0" y="2556067"/>
                </a:lnTo>
                <a:lnTo>
                  <a:pt x="0" y="0"/>
                </a:lnTo>
                <a:close/>
              </a:path>
            </a:pathLst>
          </a:custGeom>
          <a:blipFill>
            <a:blip r:embed="rId5"/>
            <a:stretch>
              <a:fillRect l="0" t="0" r="0" b="0"/>
            </a:stretch>
          </a:blipFill>
        </p:spPr>
      </p:sp>
      <p:sp>
        <p:nvSpPr>
          <p:cNvPr name="TextBox 5" id="5"/>
          <p:cNvSpPr txBox="true"/>
          <p:nvPr/>
        </p:nvSpPr>
        <p:spPr>
          <a:xfrm rot="0">
            <a:off x="1028700" y="2901043"/>
            <a:ext cx="8312264" cy="1367830"/>
          </a:xfrm>
          <a:prstGeom prst="rect">
            <a:avLst/>
          </a:prstGeom>
        </p:spPr>
        <p:txBody>
          <a:bodyPr anchor="t" rtlCol="false" tIns="0" lIns="0" bIns="0" rIns="0">
            <a:spAutoFit/>
          </a:bodyPr>
          <a:lstStyle/>
          <a:p>
            <a:pPr algn="l" marL="0" indent="0" lvl="0">
              <a:lnSpc>
                <a:spcPts val="11232"/>
              </a:lnSpc>
            </a:pPr>
            <a:r>
              <a:rPr lang="en-US" b="true" sz="8023">
                <a:solidFill>
                  <a:srgbClr val="1F1F1F"/>
                </a:solidFill>
                <a:latin typeface="Montserrat Bold"/>
                <a:ea typeface="Montserrat Bold"/>
                <a:cs typeface="Montserrat Bold"/>
                <a:sym typeface="Montserrat Bold"/>
              </a:rPr>
              <a:t>IoT in</a:t>
            </a:r>
          </a:p>
        </p:txBody>
      </p:sp>
      <p:sp>
        <p:nvSpPr>
          <p:cNvPr name="TextBox 6" id="6"/>
          <p:cNvSpPr txBox="true"/>
          <p:nvPr/>
        </p:nvSpPr>
        <p:spPr>
          <a:xfrm rot="0">
            <a:off x="1028700" y="4478708"/>
            <a:ext cx="9389750" cy="1367830"/>
          </a:xfrm>
          <a:prstGeom prst="rect">
            <a:avLst/>
          </a:prstGeom>
        </p:spPr>
        <p:txBody>
          <a:bodyPr anchor="t" rtlCol="false" tIns="0" lIns="0" bIns="0" rIns="0">
            <a:spAutoFit/>
          </a:bodyPr>
          <a:lstStyle/>
          <a:p>
            <a:pPr algn="l" marL="0" indent="0" lvl="0">
              <a:lnSpc>
                <a:spcPts val="11232"/>
              </a:lnSpc>
            </a:pPr>
            <a:r>
              <a:rPr lang="en-US" b="true" sz="8023">
                <a:solidFill>
                  <a:srgbClr val="10B981"/>
                </a:solidFill>
                <a:latin typeface="Montserrat Bold"/>
                <a:ea typeface="Montserrat Bold"/>
                <a:cs typeface="Montserrat Bold"/>
                <a:sym typeface="Montserrat Bold"/>
              </a:rPr>
              <a:t>Industrial Control</a:t>
            </a:r>
          </a:p>
        </p:txBody>
      </p:sp>
      <p:sp>
        <p:nvSpPr>
          <p:cNvPr name="TextBox 7" id="7"/>
          <p:cNvSpPr txBox="true"/>
          <p:nvPr/>
        </p:nvSpPr>
        <p:spPr>
          <a:xfrm rot="0">
            <a:off x="1822537" y="1091366"/>
            <a:ext cx="3901038" cy="850945"/>
          </a:xfrm>
          <a:prstGeom prst="rect">
            <a:avLst/>
          </a:prstGeom>
        </p:spPr>
        <p:txBody>
          <a:bodyPr anchor="t" rtlCol="false" tIns="0" lIns="0" bIns="0" rIns="0">
            <a:spAutoFit/>
          </a:bodyPr>
          <a:lstStyle/>
          <a:p>
            <a:pPr algn="l" marL="0" indent="0" lvl="0">
              <a:lnSpc>
                <a:spcPts val="3497"/>
              </a:lnSpc>
              <a:spcBef>
                <a:spcPct val="0"/>
              </a:spcBef>
            </a:pPr>
            <a:r>
              <a:rPr lang="en-US" sz="2498">
                <a:solidFill>
                  <a:srgbClr val="6B7280"/>
                </a:solidFill>
                <a:latin typeface="Inter"/>
                <a:ea typeface="Inter"/>
                <a:cs typeface="Inter"/>
                <a:sym typeface="Inter"/>
              </a:rPr>
              <a:t>Smart Manufacturing Solutions</a:t>
            </a:r>
          </a:p>
        </p:txBody>
      </p:sp>
      <p:sp>
        <p:nvSpPr>
          <p:cNvPr name="TextBox 8" id="8"/>
          <p:cNvSpPr txBox="true"/>
          <p:nvPr/>
        </p:nvSpPr>
        <p:spPr>
          <a:xfrm rot="0">
            <a:off x="1028700" y="6820807"/>
            <a:ext cx="7359449" cy="850945"/>
          </a:xfrm>
          <a:prstGeom prst="rect">
            <a:avLst/>
          </a:prstGeom>
        </p:spPr>
        <p:txBody>
          <a:bodyPr anchor="t" rtlCol="false" tIns="0" lIns="0" bIns="0" rIns="0">
            <a:spAutoFit/>
          </a:bodyPr>
          <a:lstStyle/>
          <a:p>
            <a:pPr algn="l" marL="0" indent="0" lvl="0">
              <a:lnSpc>
                <a:spcPts val="3497"/>
              </a:lnSpc>
              <a:spcBef>
                <a:spcPct val="0"/>
              </a:spcBef>
            </a:pPr>
            <a:r>
              <a:rPr lang="en-US" sz="2498" i="true">
                <a:solidFill>
                  <a:srgbClr val="6B7280"/>
                </a:solidFill>
                <a:latin typeface="Inter Italics"/>
                <a:ea typeface="Inter Italics"/>
                <a:cs typeface="Inter Italics"/>
                <a:sym typeface="Inter Italics"/>
              </a:rPr>
              <a:t>Transforming Modern Manufacturing Through Connected Systems</a:t>
            </a:r>
          </a:p>
        </p:txBody>
      </p:sp>
      <p:sp>
        <p:nvSpPr>
          <p:cNvPr name="TextBox 9" id="9"/>
          <p:cNvSpPr txBox="true"/>
          <p:nvPr/>
        </p:nvSpPr>
        <p:spPr>
          <a:xfrm rot="0">
            <a:off x="1028700" y="8827447"/>
            <a:ext cx="2183515" cy="341362"/>
          </a:xfrm>
          <a:prstGeom prst="rect">
            <a:avLst/>
          </a:prstGeom>
        </p:spPr>
        <p:txBody>
          <a:bodyPr anchor="t" rtlCol="false" tIns="0" lIns="0" bIns="0" rIns="0">
            <a:spAutoFit/>
          </a:bodyPr>
          <a:lstStyle/>
          <a:p>
            <a:pPr algn="l" marL="0" indent="0" lvl="0">
              <a:lnSpc>
                <a:spcPts val="2709"/>
              </a:lnSpc>
              <a:spcBef>
                <a:spcPct val="0"/>
              </a:spcBef>
            </a:pPr>
            <a:r>
              <a:rPr lang="en-US" sz="1935" i="true">
                <a:solidFill>
                  <a:srgbClr val="6B7280"/>
                </a:solidFill>
                <a:latin typeface="Inter Italics"/>
                <a:ea typeface="Inter Italics"/>
                <a:cs typeface="Inter Italics"/>
                <a:sym typeface="Inter Italics"/>
              </a:rPr>
              <a:t>Presented to:</a:t>
            </a:r>
          </a:p>
        </p:txBody>
      </p:sp>
      <p:sp>
        <p:nvSpPr>
          <p:cNvPr name="TextBox 10" id="10"/>
          <p:cNvSpPr txBox="true"/>
          <p:nvPr/>
        </p:nvSpPr>
        <p:spPr>
          <a:xfrm rot="0">
            <a:off x="3128531" y="8836025"/>
            <a:ext cx="2595044" cy="341362"/>
          </a:xfrm>
          <a:prstGeom prst="rect">
            <a:avLst/>
          </a:prstGeom>
        </p:spPr>
        <p:txBody>
          <a:bodyPr anchor="t" rtlCol="false" tIns="0" lIns="0" bIns="0" rIns="0">
            <a:spAutoFit/>
          </a:bodyPr>
          <a:lstStyle/>
          <a:p>
            <a:pPr algn="l" marL="0" indent="0" lvl="0">
              <a:lnSpc>
                <a:spcPts val="2709"/>
              </a:lnSpc>
              <a:spcBef>
                <a:spcPct val="0"/>
              </a:spcBef>
            </a:pPr>
            <a:r>
              <a:rPr lang="en-US" b="true" sz="1935">
                <a:solidFill>
                  <a:srgbClr val="6B7280"/>
                </a:solidFill>
                <a:latin typeface="Inter Bold"/>
                <a:ea typeface="Inter Bold"/>
                <a:cs typeface="Inter Bold"/>
                <a:sym typeface="Inter Bold"/>
              </a:rPr>
              <a:t>Technology Overview</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sp>
        <p:nvSpPr>
          <p:cNvPr name="Freeform 2" id="2"/>
          <p:cNvSpPr/>
          <p:nvPr/>
        </p:nvSpPr>
        <p:spPr>
          <a:xfrm flipH="false" flipV="false" rot="0">
            <a:off x="10500521" y="4341362"/>
            <a:ext cx="7706723" cy="5028636"/>
          </a:xfrm>
          <a:custGeom>
            <a:avLst/>
            <a:gdLst/>
            <a:ahLst/>
            <a:cxnLst/>
            <a:rect r="r" b="b" t="t" l="l"/>
            <a:pathLst>
              <a:path h="5028636" w="7706723">
                <a:moveTo>
                  <a:pt x="0" y="0"/>
                </a:moveTo>
                <a:lnTo>
                  <a:pt x="7706723" y="0"/>
                </a:lnTo>
                <a:lnTo>
                  <a:pt x="7706723" y="5028637"/>
                </a:lnTo>
                <a:lnTo>
                  <a:pt x="0" y="5028637"/>
                </a:lnTo>
                <a:lnTo>
                  <a:pt x="0" y="0"/>
                </a:lnTo>
                <a:close/>
              </a:path>
            </a:pathLst>
          </a:custGeom>
          <a:blipFill>
            <a:blip r:embed="rId2"/>
            <a:stretch>
              <a:fillRect l="0" t="0" r="0" b="0"/>
            </a:stretch>
          </a:blipFill>
        </p:spPr>
      </p:sp>
      <p:grpSp>
        <p:nvGrpSpPr>
          <p:cNvPr name="Group 3" id="3"/>
          <p:cNvGrpSpPr/>
          <p:nvPr/>
        </p:nvGrpSpPr>
        <p:grpSpPr>
          <a:xfrm rot="0">
            <a:off x="1038225" y="5348527"/>
            <a:ext cx="8950467" cy="3916676"/>
            <a:chOff x="0" y="0"/>
            <a:chExt cx="2357325" cy="1031552"/>
          </a:xfrm>
        </p:grpSpPr>
        <p:sp>
          <p:nvSpPr>
            <p:cNvPr name="Freeform 4" id="4"/>
            <p:cNvSpPr/>
            <p:nvPr/>
          </p:nvSpPr>
          <p:spPr>
            <a:xfrm flipH="false" flipV="false" rot="0">
              <a:off x="0" y="0"/>
              <a:ext cx="2357325" cy="1031552"/>
            </a:xfrm>
            <a:custGeom>
              <a:avLst/>
              <a:gdLst/>
              <a:ahLst/>
              <a:cxnLst/>
              <a:rect r="r" b="b" t="t" l="l"/>
              <a:pathLst>
                <a:path h="1031552" w="2357325">
                  <a:moveTo>
                    <a:pt x="31139" y="0"/>
                  </a:moveTo>
                  <a:lnTo>
                    <a:pt x="2326186" y="0"/>
                  </a:lnTo>
                  <a:cubicBezTo>
                    <a:pt x="2334444" y="0"/>
                    <a:pt x="2342365" y="3281"/>
                    <a:pt x="2348204" y="9120"/>
                  </a:cubicBezTo>
                  <a:cubicBezTo>
                    <a:pt x="2354044" y="14960"/>
                    <a:pt x="2357325" y="22880"/>
                    <a:pt x="2357325" y="31139"/>
                  </a:cubicBezTo>
                  <a:lnTo>
                    <a:pt x="2357325" y="1000413"/>
                  </a:lnTo>
                  <a:cubicBezTo>
                    <a:pt x="2357325" y="1008672"/>
                    <a:pt x="2354044" y="1016592"/>
                    <a:pt x="2348204" y="1022432"/>
                  </a:cubicBezTo>
                  <a:cubicBezTo>
                    <a:pt x="2342365" y="1028272"/>
                    <a:pt x="2334444" y="1031552"/>
                    <a:pt x="2326186" y="1031552"/>
                  </a:cubicBezTo>
                  <a:lnTo>
                    <a:pt x="31139" y="1031552"/>
                  </a:lnTo>
                  <a:cubicBezTo>
                    <a:pt x="22880" y="1031552"/>
                    <a:pt x="14960" y="1028272"/>
                    <a:pt x="9120" y="1022432"/>
                  </a:cubicBezTo>
                  <a:cubicBezTo>
                    <a:pt x="3281" y="1016592"/>
                    <a:pt x="0" y="1008672"/>
                    <a:pt x="0" y="1000413"/>
                  </a:cubicBezTo>
                  <a:lnTo>
                    <a:pt x="0" y="31139"/>
                  </a:lnTo>
                  <a:cubicBezTo>
                    <a:pt x="0" y="22880"/>
                    <a:pt x="3281" y="14960"/>
                    <a:pt x="9120" y="9120"/>
                  </a:cubicBezTo>
                  <a:cubicBezTo>
                    <a:pt x="14960" y="3281"/>
                    <a:pt x="22880" y="0"/>
                    <a:pt x="31139" y="0"/>
                  </a:cubicBezTo>
                  <a:close/>
                </a:path>
              </a:pathLst>
            </a:custGeom>
            <a:solidFill>
              <a:srgbClr val="D1FAE5"/>
            </a:solidFill>
          </p:spPr>
        </p:sp>
        <p:sp>
          <p:nvSpPr>
            <p:cNvPr name="TextBox 5" id="5"/>
            <p:cNvSpPr txBox="true"/>
            <p:nvPr/>
          </p:nvSpPr>
          <p:spPr>
            <a:xfrm>
              <a:off x="0" y="-38100"/>
              <a:ext cx="2357325" cy="1069652"/>
            </a:xfrm>
            <a:prstGeom prst="rect">
              <a:avLst/>
            </a:prstGeom>
          </p:spPr>
          <p:txBody>
            <a:bodyPr anchor="ctr" rtlCol="false" tIns="50800" lIns="50800" bIns="50800" rIns="50800"/>
            <a:lstStyle/>
            <a:p>
              <a:pPr algn="ctr" marL="0" indent="0" lvl="0">
                <a:lnSpc>
                  <a:spcPts val="3499"/>
                </a:lnSpc>
              </a:pPr>
            </a:p>
          </p:txBody>
        </p:sp>
      </p:grpSp>
      <p:sp>
        <p:nvSpPr>
          <p:cNvPr name="Freeform 6" id="6"/>
          <p:cNvSpPr/>
          <p:nvPr/>
        </p:nvSpPr>
        <p:spPr>
          <a:xfrm flipH="false" flipV="false" rot="0">
            <a:off x="16559678" y="1199158"/>
            <a:ext cx="699622" cy="1176735"/>
          </a:xfrm>
          <a:custGeom>
            <a:avLst/>
            <a:gdLst/>
            <a:ahLst/>
            <a:cxnLst/>
            <a:rect r="r" b="b" t="t" l="l"/>
            <a:pathLst>
              <a:path h="1176735" w="699622">
                <a:moveTo>
                  <a:pt x="0" y="0"/>
                </a:moveTo>
                <a:lnTo>
                  <a:pt x="699622" y="0"/>
                </a:lnTo>
                <a:lnTo>
                  <a:pt x="699622" y="1176735"/>
                </a:lnTo>
                <a:lnTo>
                  <a:pt x="0" y="11767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028700" y="885825"/>
            <a:ext cx="8312264" cy="1252260"/>
          </a:xfrm>
          <a:prstGeom prst="rect">
            <a:avLst/>
          </a:prstGeom>
        </p:spPr>
        <p:txBody>
          <a:bodyPr anchor="t" rtlCol="false" tIns="0" lIns="0" bIns="0" rIns="0">
            <a:spAutoFit/>
          </a:bodyPr>
          <a:lstStyle/>
          <a:p>
            <a:pPr algn="l" marL="0" indent="0" lvl="0">
              <a:lnSpc>
                <a:spcPts val="10252"/>
              </a:lnSpc>
            </a:pPr>
            <a:r>
              <a:rPr lang="en-US" b="true" sz="7323">
                <a:solidFill>
                  <a:srgbClr val="1F1F1F"/>
                </a:solidFill>
                <a:latin typeface="Montserrat Bold"/>
                <a:ea typeface="Montserrat Bold"/>
                <a:cs typeface="Montserrat Bold"/>
                <a:sym typeface="Montserrat Bold"/>
              </a:rPr>
              <a:t>IoT &amp; ICS</a:t>
            </a:r>
          </a:p>
        </p:txBody>
      </p:sp>
      <p:sp>
        <p:nvSpPr>
          <p:cNvPr name="TextBox 8" id="8"/>
          <p:cNvSpPr txBox="true"/>
          <p:nvPr/>
        </p:nvSpPr>
        <p:spPr>
          <a:xfrm rot="0">
            <a:off x="1532079" y="2051110"/>
            <a:ext cx="7099375" cy="1252260"/>
          </a:xfrm>
          <a:prstGeom prst="rect">
            <a:avLst/>
          </a:prstGeom>
        </p:spPr>
        <p:txBody>
          <a:bodyPr anchor="t" rtlCol="false" tIns="0" lIns="0" bIns="0" rIns="0">
            <a:spAutoFit/>
          </a:bodyPr>
          <a:lstStyle/>
          <a:p>
            <a:pPr algn="l" marL="0" indent="0" lvl="0">
              <a:lnSpc>
                <a:spcPts val="10252"/>
              </a:lnSpc>
            </a:pPr>
            <a:r>
              <a:rPr lang="en-US" b="true" sz="7323">
                <a:solidFill>
                  <a:srgbClr val="10B981"/>
                </a:solidFill>
                <a:latin typeface="Montserrat Bold"/>
                <a:ea typeface="Montserrat Bold"/>
                <a:cs typeface="Montserrat Bold"/>
                <a:sym typeface="Montserrat Bold"/>
              </a:rPr>
              <a:t>Fundamentals</a:t>
            </a:r>
          </a:p>
        </p:txBody>
      </p:sp>
      <p:sp>
        <p:nvSpPr>
          <p:cNvPr name="TextBox 9" id="9"/>
          <p:cNvSpPr txBox="true"/>
          <p:nvPr/>
        </p:nvSpPr>
        <p:spPr>
          <a:xfrm rot="0">
            <a:off x="1844563" y="5986065"/>
            <a:ext cx="7359449" cy="2584276"/>
          </a:xfrm>
          <a:prstGeom prst="rect">
            <a:avLst/>
          </a:prstGeom>
        </p:spPr>
        <p:txBody>
          <a:bodyPr anchor="t" rtlCol="false" tIns="0" lIns="0" bIns="0" rIns="0">
            <a:spAutoFit/>
          </a:bodyPr>
          <a:lstStyle/>
          <a:p>
            <a:pPr algn="l" marL="0" indent="0" lvl="0">
              <a:lnSpc>
                <a:spcPts val="2984"/>
              </a:lnSpc>
              <a:spcBef>
                <a:spcPct val="0"/>
              </a:spcBef>
            </a:pPr>
            <a:r>
              <a:rPr lang="en-US" sz="2131">
                <a:solidFill>
                  <a:srgbClr val="6B7280"/>
                </a:solidFill>
                <a:latin typeface="Inter"/>
                <a:ea typeface="Inter"/>
                <a:cs typeface="Inter"/>
                <a:sym typeface="Inter"/>
              </a:rPr>
              <a:t>The Internet of Things (IoT) refers to interconnected devices that collect and exchange data over networks. Industrial Control Systems (ICS) are specialized systems used to monitor and control industrial processes. The convergence of IoT and ICS creates smart industrial environments with enhanced monitoring, automation, and data-driven decision making capabilities.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702170" y="5939125"/>
            <a:ext cx="16883659" cy="3319175"/>
            <a:chOff x="0" y="0"/>
            <a:chExt cx="4446725" cy="874186"/>
          </a:xfrm>
        </p:grpSpPr>
        <p:sp>
          <p:nvSpPr>
            <p:cNvPr name="Freeform 3" id="3"/>
            <p:cNvSpPr/>
            <p:nvPr/>
          </p:nvSpPr>
          <p:spPr>
            <a:xfrm flipH="false" flipV="false" rot="0">
              <a:off x="0" y="0"/>
              <a:ext cx="4446725" cy="874186"/>
            </a:xfrm>
            <a:custGeom>
              <a:avLst/>
              <a:gdLst/>
              <a:ahLst/>
              <a:cxnLst/>
              <a:rect r="r" b="b" t="t" l="l"/>
              <a:pathLst>
                <a:path h="874186" w="4446725">
                  <a:moveTo>
                    <a:pt x="16508" y="0"/>
                  </a:moveTo>
                  <a:lnTo>
                    <a:pt x="4430218" y="0"/>
                  </a:lnTo>
                  <a:cubicBezTo>
                    <a:pt x="4434596" y="0"/>
                    <a:pt x="4438794" y="1739"/>
                    <a:pt x="4441890" y="4835"/>
                  </a:cubicBezTo>
                  <a:cubicBezTo>
                    <a:pt x="4444986" y="7931"/>
                    <a:pt x="4446725" y="12130"/>
                    <a:pt x="4446725" y="16508"/>
                  </a:cubicBezTo>
                  <a:lnTo>
                    <a:pt x="4446725" y="857678"/>
                  </a:lnTo>
                  <a:cubicBezTo>
                    <a:pt x="4446725" y="862056"/>
                    <a:pt x="4444986" y="866255"/>
                    <a:pt x="4441890" y="869351"/>
                  </a:cubicBezTo>
                  <a:cubicBezTo>
                    <a:pt x="4438794" y="872447"/>
                    <a:pt x="4434596" y="874186"/>
                    <a:pt x="4430218" y="874186"/>
                  </a:cubicBezTo>
                  <a:lnTo>
                    <a:pt x="16508" y="874186"/>
                  </a:lnTo>
                  <a:cubicBezTo>
                    <a:pt x="12130" y="874186"/>
                    <a:pt x="7931" y="872447"/>
                    <a:pt x="4835" y="869351"/>
                  </a:cubicBezTo>
                  <a:cubicBezTo>
                    <a:pt x="1739" y="866255"/>
                    <a:pt x="0" y="862056"/>
                    <a:pt x="0" y="857678"/>
                  </a:cubicBezTo>
                  <a:lnTo>
                    <a:pt x="0" y="16508"/>
                  </a:lnTo>
                  <a:cubicBezTo>
                    <a:pt x="0" y="12130"/>
                    <a:pt x="1739" y="7931"/>
                    <a:pt x="4835" y="4835"/>
                  </a:cubicBezTo>
                  <a:cubicBezTo>
                    <a:pt x="7931" y="1739"/>
                    <a:pt x="12130" y="0"/>
                    <a:pt x="16508" y="0"/>
                  </a:cubicBezTo>
                  <a:close/>
                </a:path>
              </a:pathLst>
            </a:custGeom>
            <a:solidFill>
              <a:srgbClr val="D1FAE5"/>
            </a:solidFill>
          </p:spPr>
        </p:sp>
        <p:sp>
          <p:nvSpPr>
            <p:cNvPr name="TextBox 4" id="4"/>
            <p:cNvSpPr txBox="true"/>
            <p:nvPr/>
          </p:nvSpPr>
          <p:spPr>
            <a:xfrm>
              <a:off x="0" y="-38100"/>
              <a:ext cx="4446725" cy="912286"/>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1958323" y="4409952"/>
            <a:ext cx="1809309" cy="1263484"/>
          </a:xfrm>
          <a:custGeom>
            <a:avLst/>
            <a:gdLst/>
            <a:ahLst/>
            <a:cxnLst/>
            <a:rect r="r" b="b" t="t" l="l"/>
            <a:pathLst>
              <a:path h="1263484" w="1809309">
                <a:moveTo>
                  <a:pt x="0" y="0"/>
                </a:moveTo>
                <a:lnTo>
                  <a:pt x="1809309" y="0"/>
                </a:lnTo>
                <a:lnTo>
                  <a:pt x="1809309" y="1263483"/>
                </a:lnTo>
                <a:lnTo>
                  <a:pt x="0" y="1263483"/>
                </a:lnTo>
                <a:lnTo>
                  <a:pt x="0" y="0"/>
                </a:lnTo>
                <a:close/>
              </a:path>
            </a:pathLst>
          </a:custGeom>
          <a:blipFill>
            <a:blip r:embed="rId2"/>
            <a:stretch>
              <a:fillRect l="0" t="0" r="0" b="0"/>
            </a:stretch>
          </a:blipFill>
        </p:spPr>
      </p:sp>
      <p:sp>
        <p:nvSpPr>
          <p:cNvPr name="Freeform 6" id="6"/>
          <p:cNvSpPr/>
          <p:nvPr/>
        </p:nvSpPr>
        <p:spPr>
          <a:xfrm flipH="false" flipV="false" rot="0">
            <a:off x="6446297" y="4394000"/>
            <a:ext cx="1008917" cy="1272392"/>
          </a:xfrm>
          <a:custGeom>
            <a:avLst/>
            <a:gdLst/>
            <a:ahLst/>
            <a:cxnLst/>
            <a:rect r="r" b="b" t="t" l="l"/>
            <a:pathLst>
              <a:path h="1272392" w="1008917">
                <a:moveTo>
                  <a:pt x="0" y="0"/>
                </a:moveTo>
                <a:lnTo>
                  <a:pt x="1008917" y="0"/>
                </a:lnTo>
                <a:lnTo>
                  <a:pt x="1008917" y="1272392"/>
                </a:lnTo>
                <a:lnTo>
                  <a:pt x="0" y="1272392"/>
                </a:lnTo>
                <a:lnTo>
                  <a:pt x="0" y="0"/>
                </a:lnTo>
                <a:close/>
              </a:path>
            </a:pathLst>
          </a:custGeom>
          <a:blipFill>
            <a:blip r:embed="rId3"/>
            <a:stretch>
              <a:fillRect l="0" t="0" r="0" b="0"/>
            </a:stretch>
          </a:blipFill>
        </p:spPr>
      </p:sp>
      <p:sp>
        <p:nvSpPr>
          <p:cNvPr name="Freeform 7" id="7"/>
          <p:cNvSpPr/>
          <p:nvPr/>
        </p:nvSpPr>
        <p:spPr>
          <a:xfrm flipH="false" flipV="false" rot="0">
            <a:off x="10231057" y="4316178"/>
            <a:ext cx="1541562" cy="1511009"/>
          </a:xfrm>
          <a:custGeom>
            <a:avLst/>
            <a:gdLst/>
            <a:ahLst/>
            <a:cxnLst/>
            <a:rect r="r" b="b" t="t" l="l"/>
            <a:pathLst>
              <a:path h="1511009" w="1541562">
                <a:moveTo>
                  <a:pt x="0" y="0"/>
                </a:moveTo>
                <a:lnTo>
                  <a:pt x="1541563" y="0"/>
                </a:lnTo>
                <a:lnTo>
                  <a:pt x="1541563" y="1511009"/>
                </a:lnTo>
                <a:lnTo>
                  <a:pt x="0" y="1511009"/>
                </a:lnTo>
                <a:lnTo>
                  <a:pt x="0" y="0"/>
                </a:lnTo>
                <a:close/>
              </a:path>
            </a:pathLst>
          </a:custGeom>
          <a:blipFill>
            <a:blip r:embed="rId4"/>
            <a:stretch>
              <a:fillRect l="0" t="0" r="0" b="0"/>
            </a:stretch>
          </a:blipFill>
        </p:spPr>
      </p:sp>
      <p:sp>
        <p:nvSpPr>
          <p:cNvPr name="Freeform 8" id="8"/>
          <p:cNvSpPr/>
          <p:nvPr/>
        </p:nvSpPr>
        <p:spPr>
          <a:xfrm flipH="false" flipV="false" rot="0">
            <a:off x="14674580" y="4650484"/>
            <a:ext cx="1221272" cy="879798"/>
          </a:xfrm>
          <a:custGeom>
            <a:avLst/>
            <a:gdLst/>
            <a:ahLst/>
            <a:cxnLst/>
            <a:rect r="r" b="b" t="t" l="l"/>
            <a:pathLst>
              <a:path h="879798" w="1221272">
                <a:moveTo>
                  <a:pt x="0" y="0"/>
                </a:moveTo>
                <a:lnTo>
                  <a:pt x="1221272" y="0"/>
                </a:lnTo>
                <a:lnTo>
                  <a:pt x="1221272" y="879798"/>
                </a:lnTo>
                <a:lnTo>
                  <a:pt x="0" y="879798"/>
                </a:lnTo>
                <a:lnTo>
                  <a:pt x="0" y="0"/>
                </a:lnTo>
                <a:close/>
              </a:path>
            </a:pathLst>
          </a:custGeom>
          <a:blipFill>
            <a:blip r:embed="rId5"/>
            <a:stretch>
              <a:fillRect l="0" t="0" r="0" b="0"/>
            </a:stretch>
          </a:blipFill>
        </p:spPr>
      </p:sp>
      <p:sp>
        <p:nvSpPr>
          <p:cNvPr name="Freeform 9" id="9"/>
          <p:cNvSpPr/>
          <p:nvPr/>
        </p:nvSpPr>
        <p:spPr>
          <a:xfrm flipH="false" flipV="false" rot="0">
            <a:off x="13233021" y="1028700"/>
            <a:ext cx="4026279" cy="1310371"/>
          </a:xfrm>
          <a:custGeom>
            <a:avLst/>
            <a:gdLst/>
            <a:ahLst/>
            <a:cxnLst/>
            <a:rect r="r" b="b" t="t" l="l"/>
            <a:pathLst>
              <a:path h="1310371" w="4026279">
                <a:moveTo>
                  <a:pt x="0" y="0"/>
                </a:moveTo>
                <a:lnTo>
                  <a:pt x="4026279" y="0"/>
                </a:lnTo>
                <a:lnTo>
                  <a:pt x="4026279" y="1310371"/>
                </a:lnTo>
                <a:lnTo>
                  <a:pt x="0" y="13103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1028700" y="866775"/>
            <a:ext cx="8312264" cy="2992001"/>
          </a:xfrm>
          <a:prstGeom prst="rect">
            <a:avLst/>
          </a:prstGeom>
        </p:spPr>
        <p:txBody>
          <a:bodyPr anchor="t" rtlCol="false" tIns="0" lIns="0" bIns="0" rIns="0">
            <a:spAutoFit/>
          </a:bodyPr>
          <a:lstStyle/>
          <a:p>
            <a:pPr algn="l" marL="0" indent="0" lvl="0">
              <a:lnSpc>
                <a:spcPts val="12011"/>
              </a:lnSpc>
            </a:pPr>
            <a:r>
              <a:rPr lang="en-US" b="true" sz="8579">
                <a:solidFill>
                  <a:srgbClr val="1F1F1F"/>
                </a:solidFill>
                <a:latin typeface="Montserrat Bold"/>
                <a:ea typeface="Montserrat Bold"/>
                <a:cs typeface="Montserrat Bold"/>
                <a:sym typeface="Montserrat Bold"/>
              </a:rPr>
              <a:t>Core IoT-ICS Components</a:t>
            </a:r>
          </a:p>
        </p:txBody>
      </p:sp>
      <p:sp>
        <p:nvSpPr>
          <p:cNvPr name="TextBox 11" id="11"/>
          <p:cNvSpPr txBox="true"/>
          <p:nvPr/>
        </p:nvSpPr>
        <p:spPr>
          <a:xfrm rot="0">
            <a:off x="1226969" y="6338364"/>
            <a:ext cx="3733319" cy="412795"/>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6B7280"/>
                </a:solidFill>
                <a:latin typeface="Inter Bold"/>
                <a:ea typeface="Inter Bold"/>
                <a:cs typeface="Inter Bold"/>
                <a:sym typeface="Inter Bold"/>
              </a:rPr>
              <a:t>Sensors &amp; Actuators</a:t>
            </a:r>
          </a:p>
        </p:txBody>
      </p:sp>
      <p:sp>
        <p:nvSpPr>
          <p:cNvPr name="TextBox 12" id="12"/>
          <p:cNvSpPr txBox="true"/>
          <p:nvPr/>
        </p:nvSpPr>
        <p:spPr>
          <a:xfrm rot="0">
            <a:off x="5433373" y="6338364"/>
            <a:ext cx="3064118" cy="850945"/>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6B7280"/>
                </a:solidFill>
                <a:latin typeface="Inter Bold"/>
                <a:ea typeface="Inter Bold"/>
                <a:cs typeface="Inter Bold"/>
                <a:sym typeface="Inter Bold"/>
              </a:rPr>
              <a:t>Controllers (PLCs/RTUs)</a:t>
            </a:r>
          </a:p>
        </p:txBody>
      </p:sp>
      <p:sp>
        <p:nvSpPr>
          <p:cNvPr name="TextBox 13" id="13"/>
          <p:cNvSpPr txBox="true"/>
          <p:nvPr/>
        </p:nvSpPr>
        <p:spPr>
          <a:xfrm rot="0">
            <a:off x="9340964" y="6338364"/>
            <a:ext cx="3241326" cy="412795"/>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6B7280"/>
                </a:solidFill>
                <a:latin typeface="Inter Bold"/>
                <a:ea typeface="Inter Bold"/>
                <a:cs typeface="Inter Bold"/>
                <a:sym typeface="Inter Bold"/>
              </a:rPr>
              <a:t>Industrial Networks</a:t>
            </a:r>
          </a:p>
        </p:txBody>
      </p:sp>
      <p:sp>
        <p:nvSpPr>
          <p:cNvPr name="TextBox 14" id="14"/>
          <p:cNvSpPr txBox="true"/>
          <p:nvPr/>
        </p:nvSpPr>
        <p:spPr>
          <a:xfrm rot="0">
            <a:off x="13852511" y="6338364"/>
            <a:ext cx="2880989" cy="412795"/>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6B7280"/>
                </a:solidFill>
                <a:latin typeface="Inter Bold"/>
                <a:ea typeface="Inter Bold"/>
                <a:cs typeface="Inter Bold"/>
                <a:sym typeface="Inter Bold"/>
              </a:rPr>
              <a:t>Cloud Platforms</a:t>
            </a:r>
          </a:p>
        </p:txBody>
      </p:sp>
      <p:sp>
        <p:nvSpPr>
          <p:cNvPr name="TextBox 15" id="15"/>
          <p:cNvSpPr txBox="true"/>
          <p:nvPr/>
        </p:nvSpPr>
        <p:spPr>
          <a:xfrm rot="0">
            <a:off x="1226969" y="7460423"/>
            <a:ext cx="3465149" cy="963146"/>
          </a:xfrm>
          <a:prstGeom prst="rect">
            <a:avLst/>
          </a:prstGeom>
        </p:spPr>
        <p:txBody>
          <a:bodyPr anchor="t" rtlCol="false" tIns="0" lIns="0" bIns="0" rIns="0">
            <a:spAutoFit/>
          </a:bodyPr>
          <a:lstStyle/>
          <a:p>
            <a:pPr algn="ctr" marL="0" indent="0" lvl="0">
              <a:lnSpc>
                <a:spcPts val="2563"/>
              </a:lnSpc>
              <a:spcBef>
                <a:spcPct val="0"/>
              </a:spcBef>
            </a:pPr>
            <a:r>
              <a:rPr lang="en-US" sz="1830">
                <a:solidFill>
                  <a:srgbClr val="6B7280"/>
                </a:solidFill>
                <a:latin typeface="Inter"/>
                <a:ea typeface="Inter"/>
                <a:cs typeface="Inter"/>
                <a:sym typeface="Inter"/>
              </a:rPr>
              <a:t>Collect real-time data from industrial processes and execute physical actions.</a:t>
            </a:r>
          </a:p>
        </p:txBody>
      </p:sp>
      <p:sp>
        <p:nvSpPr>
          <p:cNvPr name="TextBox 16" id="16"/>
          <p:cNvSpPr txBox="true"/>
          <p:nvPr/>
        </p:nvSpPr>
        <p:spPr>
          <a:xfrm rot="0">
            <a:off x="5433373" y="7460423"/>
            <a:ext cx="3064118" cy="963146"/>
          </a:xfrm>
          <a:prstGeom prst="rect">
            <a:avLst/>
          </a:prstGeom>
        </p:spPr>
        <p:txBody>
          <a:bodyPr anchor="t" rtlCol="false" tIns="0" lIns="0" bIns="0" rIns="0">
            <a:spAutoFit/>
          </a:bodyPr>
          <a:lstStyle/>
          <a:p>
            <a:pPr algn="ctr" marL="0" indent="0" lvl="0">
              <a:lnSpc>
                <a:spcPts val="2563"/>
              </a:lnSpc>
              <a:spcBef>
                <a:spcPct val="0"/>
              </a:spcBef>
            </a:pPr>
            <a:r>
              <a:rPr lang="en-US" sz="1830">
                <a:solidFill>
                  <a:srgbClr val="6B7280"/>
                </a:solidFill>
                <a:latin typeface="Inter"/>
                <a:ea typeface="Inter"/>
                <a:cs typeface="Inter"/>
                <a:sym typeface="Inter"/>
              </a:rPr>
              <a:t>Process data locally and manage automated control sequences.</a:t>
            </a:r>
          </a:p>
        </p:txBody>
      </p:sp>
      <p:sp>
        <p:nvSpPr>
          <p:cNvPr name="TextBox 17" id="17"/>
          <p:cNvSpPr txBox="true"/>
          <p:nvPr/>
        </p:nvSpPr>
        <p:spPr>
          <a:xfrm rot="0">
            <a:off x="9635353" y="7460423"/>
            <a:ext cx="2652548" cy="1286996"/>
          </a:xfrm>
          <a:prstGeom prst="rect">
            <a:avLst/>
          </a:prstGeom>
        </p:spPr>
        <p:txBody>
          <a:bodyPr anchor="t" rtlCol="false" tIns="0" lIns="0" bIns="0" rIns="0">
            <a:spAutoFit/>
          </a:bodyPr>
          <a:lstStyle/>
          <a:p>
            <a:pPr algn="ctr" marL="0" indent="0" lvl="0">
              <a:lnSpc>
                <a:spcPts val="2563"/>
              </a:lnSpc>
              <a:spcBef>
                <a:spcPct val="0"/>
              </a:spcBef>
            </a:pPr>
            <a:r>
              <a:rPr lang="en-US" sz="1830">
                <a:solidFill>
                  <a:srgbClr val="6B7280"/>
                </a:solidFill>
                <a:latin typeface="Inter"/>
                <a:ea typeface="Inter"/>
                <a:cs typeface="Inter"/>
                <a:sym typeface="Inter"/>
              </a:rPr>
              <a:t>Enable secure communication between devices and systems.</a:t>
            </a:r>
          </a:p>
        </p:txBody>
      </p:sp>
      <p:sp>
        <p:nvSpPr>
          <p:cNvPr name="TextBox 18" id="18"/>
          <p:cNvSpPr txBox="true"/>
          <p:nvPr/>
        </p:nvSpPr>
        <p:spPr>
          <a:xfrm rot="0">
            <a:off x="13966731" y="7460423"/>
            <a:ext cx="2652548" cy="963146"/>
          </a:xfrm>
          <a:prstGeom prst="rect">
            <a:avLst/>
          </a:prstGeom>
        </p:spPr>
        <p:txBody>
          <a:bodyPr anchor="t" rtlCol="false" tIns="0" lIns="0" bIns="0" rIns="0">
            <a:spAutoFit/>
          </a:bodyPr>
          <a:lstStyle/>
          <a:p>
            <a:pPr algn="ctr" marL="0" indent="0" lvl="0">
              <a:lnSpc>
                <a:spcPts val="2563"/>
              </a:lnSpc>
              <a:spcBef>
                <a:spcPct val="0"/>
              </a:spcBef>
            </a:pPr>
            <a:r>
              <a:rPr lang="en-US" sz="1830">
                <a:solidFill>
                  <a:srgbClr val="6B7280"/>
                </a:solidFill>
                <a:latin typeface="Inter"/>
                <a:ea typeface="Inter"/>
                <a:cs typeface="Inter"/>
                <a:sym typeface="Inter"/>
              </a:rPr>
              <a:t>Store, analyze, and visualize industrial data remotely.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11947402" y="1578816"/>
            <a:ext cx="5311898" cy="7679484"/>
            <a:chOff x="0" y="0"/>
            <a:chExt cx="1399019" cy="2022580"/>
          </a:xfrm>
        </p:grpSpPr>
        <p:sp>
          <p:nvSpPr>
            <p:cNvPr name="Freeform 3" id="3"/>
            <p:cNvSpPr/>
            <p:nvPr/>
          </p:nvSpPr>
          <p:spPr>
            <a:xfrm flipH="false" flipV="false" rot="0">
              <a:off x="0" y="0"/>
              <a:ext cx="1399018" cy="2022580"/>
            </a:xfrm>
            <a:custGeom>
              <a:avLst/>
              <a:gdLst/>
              <a:ahLst/>
              <a:cxnLst/>
              <a:rect r="r" b="b" t="t" l="l"/>
              <a:pathLst>
                <a:path h="2022580" w="1399018">
                  <a:moveTo>
                    <a:pt x="52469" y="0"/>
                  </a:moveTo>
                  <a:lnTo>
                    <a:pt x="1346550" y="0"/>
                  </a:lnTo>
                  <a:cubicBezTo>
                    <a:pt x="1360465" y="0"/>
                    <a:pt x="1373811" y="5528"/>
                    <a:pt x="1383651" y="15368"/>
                  </a:cubicBezTo>
                  <a:cubicBezTo>
                    <a:pt x="1393491" y="25208"/>
                    <a:pt x="1399018" y="38553"/>
                    <a:pt x="1399018" y="52469"/>
                  </a:cubicBezTo>
                  <a:lnTo>
                    <a:pt x="1399018" y="1970111"/>
                  </a:lnTo>
                  <a:cubicBezTo>
                    <a:pt x="1399018" y="1984027"/>
                    <a:pt x="1393491" y="1997372"/>
                    <a:pt x="1383651" y="2007212"/>
                  </a:cubicBezTo>
                  <a:cubicBezTo>
                    <a:pt x="1373811" y="2017052"/>
                    <a:pt x="1360465" y="2022580"/>
                    <a:pt x="1346550" y="2022580"/>
                  </a:cubicBezTo>
                  <a:lnTo>
                    <a:pt x="52469" y="2022580"/>
                  </a:lnTo>
                  <a:cubicBezTo>
                    <a:pt x="38553" y="2022580"/>
                    <a:pt x="25208" y="2017052"/>
                    <a:pt x="15368" y="2007212"/>
                  </a:cubicBezTo>
                  <a:cubicBezTo>
                    <a:pt x="5528" y="1997372"/>
                    <a:pt x="0" y="1984027"/>
                    <a:pt x="0" y="1970111"/>
                  </a:cubicBezTo>
                  <a:lnTo>
                    <a:pt x="0" y="52469"/>
                  </a:lnTo>
                  <a:cubicBezTo>
                    <a:pt x="0" y="38553"/>
                    <a:pt x="5528" y="25208"/>
                    <a:pt x="15368" y="15368"/>
                  </a:cubicBezTo>
                  <a:cubicBezTo>
                    <a:pt x="25208" y="5528"/>
                    <a:pt x="38553" y="0"/>
                    <a:pt x="52469" y="0"/>
                  </a:cubicBezTo>
                  <a:close/>
                </a:path>
              </a:pathLst>
            </a:custGeom>
            <a:solidFill>
              <a:srgbClr val="D1FAE5"/>
            </a:solidFill>
          </p:spPr>
        </p:sp>
        <p:sp>
          <p:nvSpPr>
            <p:cNvPr name="TextBox 4" id="4"/>
            <p:cNvSpPr txBox="true"/>
            <p:nvPr/>
          </p:nvSpPr>
          <p:spPr>
            <a:xfrm>
              <a:off x="0" y="-38100"/>
              <a:ext cx="1399019" cy="2060680"/>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10411593" y="2036517"/>
            <a:ext cx="1221389" cy="1193357"/>
          </a:xfrm>
          <a:custGeom>
            <a:avLst/>
            <a:gdLst/>
            <a:ahLst/>
            <a:cxnLst/>
            <a:rect r="r" b="b" t="t" l="l"/>
            <a:pathLst>
              <a:path h="1193357" w="1221389">
                <a:moveTo>
                  <a:pt x="0" y="0"/>
                </a:moveTo>
                <a:lnTo>
                  <a:pt x="1221389" y="0"/>
                </a:lnTo>
                <a:lnTo>
                  <a:pt x="1221389" y="1193357"/>
                </a:lnTo>
                <a:lnTo>
                  <a:pt x="0" y="1193357"/>
                </a:lnTo>
                <a:lnTo>
                  <a:pt x="0" y="0"/>
                </a:lnTo>
                <a:close/>
              </a:path>
            </a:pathLst>
          </a:custGeom>
          <a:blipFill>
            <a:blip r:embed="rId2"/>
            <a:stretch>
              <a:fillRect l="0" t="0" r="0" b="0"/>
            </a:stretch>
          </a:blipFill>
        </p:spPr>
      </p:sp>
      <p:sp>
        <p:nvSpPr>
          <p:cNvPr name="Freeform 6" id="6"/>
          <p:cNvSpPr/>
          <p:nvPr/>
        </p:nvSpPr>
        <p:spPr>
          <a:xfrm flipH="false" flipV="false" rot="0">
            <a:off x="10617222" y="4066938"/>
            <a:ext cx="992486" cy="992486"/>
          </a:xfrm>
          <a:custGeom>
            <a:avLst/>
            <a:gdLst/>
            <a:ahLst/>
            <a:cxnLst/>
            <a:rect r="r" b="b" t="t" l="l"/>
            <a:pathLst>
              <a:path h="992486" w="992486">
                <a:moveTo>
                  <a:pt x="0" y="0"/>
                </a:moveTo>
                <a:lnTo>
                  <a:pt x="992486" y="0"/>
                </a:lnTo>
                <a:lnTo>
                  <a:pt x="992486" y="992486"/>
                </a:lnTo>
                <a:lnTo>
                  <a:pt x="0" y="992486"/>
                </a:lnTo>
                <a:lnTo>
                  <a:pt x="0" y="0"/>
                </a:lnTo>
                <a:close/>
              </a:path>
            </a:pathLst>
          </a:custGeom>
          <a:blipFill>
            <a:blip r:embed="rId3"/>
            <a:stretch>
              <a:fillRect l="0" t="0" r="0" b="0"/>
            </a:stretch>
          </a:blipFill>
        </p:spPr>
      </p:sp>
      <p:sp>
        <p:nvSpPr>
          <p:cNvPr name="Freeform 7" id="7"/>
          <p:cNvSpPr/>
          <p:nvPr/>
        </p:nvSpPr>
        <p:spPr>
          <a:xfrm flipH="false" flipV="false" rot="0">
            <a:off x="10740606" y="6034457"/>
            <a:ext cx="798021" cy="790041"/>
          </a:xfrm>
          <a:custGeom>
            <a:avLst/>
            <a:gdLst/>
            <a:ahLst/>
            <a:cxnLst/>
            <a:rect r="r" b="b" t="t" l="l"/>
            <a:pathLst>
              <a:path h="790041" w="798021">
                <a:moveTo>
                  <a:pt x="0" y="0"/>
                </a:moveTo>
                <a:lnTo>
                  <a:pt x="798021" y="0"/>
                </a:lnTo>
                <a:lnTo>
                  <a:pt x="798021" y="790040"/>
                </a:lnTo>
                <a:lnTo>
                  <a:pt x="0" y="790040"/>
                </a:lnTo>
                <a:lnTo>
                  <a:pt x="0" y="0"/>
                </a:lnTo>
                <a:close/>
              </a:path>
            </a:pathLst>
          </a:custGeom>
          <a:blipFill>
            <a:blip r:embed="rId4"/>
            <a:stretch>
              <a:fillRect l="0" t="0" r="0" b="0"/>
            </a:stretch>
          </a:blipFill>
        </p:spPr>
      </p:sp>
      <p:sp>
        <p:nvSpPr>
          <p:cNvPr name="Freeform 8" id="8"/>
          <p:cNvSpPr/>
          <p:nvPr/>
        </p:nvSpPr>
        <p:spPr>
          <a:xfrm flipH="false" flipV="false" rot="0">
            <a:off x="10339425" y="7458081"/>
            <a:ext cx="1542065" cy="1573536"/>
          </a:xfrm>
          <a:custGeom>
            <a:avLst/>
            <a:gdLst/>
            <a:ahLst/>
            <a:cxnLst/>
            <a:rect r="r" b="b" t="t" l="l"/>
            <a:pathLst>
              <a:path h="1573536" w="1542065">
                <a:moveTo>
                  <a:pt x="0" y="0"/>
                </a:moveTo>
                <a:lnTo>
                  <a:pt x="1542065" y="0"/>
                </a:lnTo>
                <a:lnTo>
                  <a:pt x="1542065" y="1573535"/>
                </a:lnTo>
                <a:lnTo>
                  <a:pt x="0" y="1573535"/>
                </a:lnTo>
                <a:lnTo>
                  <a:pt x="0" y="0"/>
                </a:lnTo>
                <a:close/>
              </a:path>
            </a:pathLst>
          </a:custGeom>
          <a:blipFill>
            <a:blip r:embed="rId5"/>
            <a:stretch>
              <a:fillRect l="0" t="0" r="0" b="0"/>
            </a:stretch>
          </a:blipFill>
        </p:spPr>
      </p:sp>
      <p:sp>
        <p:nvSpPr>
          <p:cNvPr name="Freeform 9" id="9"/>
          <p:cNvSpPr/>
          <p:nvPr/>
        </p:nvSpPr>
        <p:spPr>
          <a:xfrm flipH="false" flipV="false" rot="0">
            <a:off x="370935" y="5031187"/>
            <a:ext cx="5654169" cy="4120476"/>
          </a:xfrm>
          <a:custGeom>
            <a:avLst/>
            <a:gdLst/>
            <a:ahLst/>
            <a:cxnLst/>
            <a:rect r="r" b="b" t="t" l="l"/>
            <a:pathLst>
              <a:path h="4120476" w="5654169">
                <a:moveTo>
                  <a:pt x="0" y="0"/>
                </a:moveTo>
                <a:lnTo>
                  <a:pt x="5654169" y="0"/>
                </a:lnTo>
                <a:lnTo>
                  <a:pt x="5654169" y="4120476"/>
                </a:lnTo>
                <a:lnTo>
                  <a:pt x="0" y="4120476"/>
                </a:lnTo>
                <a:lnTo>
                  <a:pt x="0" y="0"/>
                </a:lnTo>
                <a:close/>
              </a:path>
            </a:pathLst>
          </a:custGeom>
          <a:blipFill>
            <a:blip r:embed="rId6"/>
            <a:stretch>
              <a:fillRect l="0" t="0" r="0" b="0"/>
            </a:stretch>
          </a:blipFill>
        </p:spPr>
      </p:sp>
      <p:sp>
        <p:nvSpPr>
          <p:cNvPr name="TextBox 10" id="10"/>
          <p:cNvSpPr txBox="true"/>
          <p:nvPr/>
        </p:nvSpPr>
        <p:spPr>
          <a:xfrm rot="0">
            <a:off x="1028700" y="876300"/>
            <a:ext cx="8312264" cy="1327785"/>
          </a:xfrm>
          <a:prstGeom prst="rect">
            <a:avLst/>
          </a:prstGeom>
        </p:spPr>
        <p:txBody>
          <a:bodyPr anchor="t" rtlCol="false" tIns="0" lIns="0" bIns="0" rIns="0">
            <a:spAutoFit/>
          </a:bodyPr>
          <a:lstStyle/>
          <a:p>
            <a:pPr algn="l" marL="0" indent="0" lvl="0">
              <a:lnSpc>
                <a:spcPts val="10815"/>
              </a:lnSpc>
            </a:pPr>
            <a:r>
              <a:rPr lang="en-US" b="true" sz="7725">
                <a:solidFill>
                  <a:srgbClr val="1F1F1F"/>
                </a:solidFill>
                <a:latin typeface="Montserrat Bold"/>
                <a:ea typeface="Montserrat Bold"/>
                <a:cs typeface="Montserrat Bold"/>
                <a:sym typeface="Montserrat Bold"/>
              </a:rPr>
              <a:t>Communication</a:t>
            </a:r>
          </a:p>
        </p:txBody>
      </p:sp>
      <p:sp>
        <p:nvSpPr>
          <p:cNvPr name="TextBox 11" id="11"/>
          <p:cNvSpPr txBox="true"/>
          <p:nvPr/>
        </p:nvSpPr>
        <p:spPr>
          <a:xfrm rot="0">
            <a:off x="1411059" y="2041585"/>
            <a:ext cx="8492523" cy="1327785"/>
          </a:xfrm>
          <a:prstGeom prst="rect">
            <a:avLst/>
          </a:prstGeom>
        </p:spPr>
        <p:txBody>
          <a:bodyPr anchor="t" rtlCol="false" tIns="0" lIns="0" bIns="0" rIns="0">
            <a:spAutoFit/>
          </a:bodyPr>
          <a:lstStyle/>
          <a:p>
            <a:pPr algn="l" marL="0" indent="0" lvl="0">
              <a:lnSpc>
                <a:spcPts val="10815"/>
              </a:lnSpc>
            </a:pPr>
            <a:r>
              <a:rPr lang="en-US" b="true" sz="7725">
                <a:solidFill>
                  <a:srgbClr val="10B981"/>
                </a:solidFill>
                <a:latin typeface="Montserrat Bold"/>
                <a:ea typeface="Montserrat Bold"/>
                <a:cs typeface="Montserrat Bold"/>
                <a:sym typeface="Montserrat Bold"/>
              </a:rPr>
              <a:t>Protocols</a:t>
            </a:r>
          </a:p>
        </p:txBody>
      </p:sp>
      <p:sp>
        <p:nvSpPr>
          <p:cNvPr name="TextBox 12" id="12"/>
          <p:cNvSpPr txBox="true"/>
          <p:nvPr/>
        </p:nvSpPr>
        <p:spPr>
          <a:xfrm rot="0">
            <a:off x="12376936" y="2029726"/>
            <a:ext cx="3733319" cy="412795"/>
          </a:xfrm>
          <a:prstGeom prst="rect">
            <a:avLst/>
          </a:prstGeom>
        </p:spPr>
        <p:txBody>
          <a:bodyPr anchor="t" rtlCol="false" tIns="0" lIns="0" bIns="0" rIns="0">
            <a:spAutoFit/>
          </a:bodyPr>
          <a:lstStyle/>
          <a:p>
            <a:pPr algn="just" marL="0" indent="0" lvl="0">
              <a:lnSpc>
                <a:spcPts val="3497"/>
              </a:lnSpc>
              <a:spcBef>
                <a:spcPct val="0"/>
              </a:spcBef>
            </a:pPr>
            <a:r>
              <a:rPr lang="en-US" b="true" sz="2498">
                <a:solidFill>
                  <a:srgbClr val="6B7280"/>
                </a:solidFill>
                <a:latin typeface="Inter Bold"/>
                <a:ea typeface="Inter Bold"/>
                <a:cs typeface="Inter Bold"/>
                <a:sym typeface="Inter Bold"/>
              </a:rPr>
              <a:t>MQTT Protocol</a:t>
            </a:r>
          </a:p>
        </p:txBody>
      </p:sp>
      <p:sp>
        <p:nvSpPr>
          <p:cNvPr name="TextBox 13" id="13"/>
          <p:cNvSpPr txBox="true"/>
          <p:nvPr/>
        </p:nvSpPr>
        <p:spPr>
          <a:xfrm rot="0">
            <a:off x="12376936" y="3799665"/>
            <a:ext cx="3733319" cy="412795"/>
          </a:xfrm>
          <a:prstGeom prst="rect">
            <a:avLst/>
          </a:prstGeom>
        </p:spPr>
        <p:txBody>
          <a:bodyPr anchor="t" rtlCol="false" tIns="0" lIns="0" bIns="0" rIns="0">
            <a:spAutoFit/>
          </a:bodyPr>
          <a:lstStyle/>
          <a:p>
            <a:pPr algn="just" marL="0" indent="0" lvl="0">
              <a:lnSpc>
                <a:spcPts val="3497"/>
              </a:lnSpc>
              <a:spcBef>
                <a:spcPct val="0"/>
              </a:spcBef>
            </a:pPr>
            <a:r>
              <a:rPr lang="en-US" b="true" sz="2498">
                <a:solidFill>
                  <a:srgbClr val="6B7280"/>
                </a:solidFill>
                <a:latin typeface="Inter Bold"/>
                <a:ea typeface="Inter Bold"/>
                <a:cs typeface="Inter Bold"/>
                <a:sym typeface="Inter Bold"/>
              </a:rPr>
              <a:t>OPC-UA</a:t>
            </a:r>
          </a:p>
        </p:txBody>
      </p:sp>
      <p:sp>
        <p:nvSpPr>
          <p:cNvPr name="TextBox 14" id="14"/>
          <p:cNvSpPr txBox="true"/>
          <p:nvPr/>
        </p:nvSpPr>
        <p:spPr>
          <a:xfrm rot="0">
            <a:off x="12376936" y="5571316"/>
            <a:ext cx="3733319" cy="412795"/>
          </a:xfrm>
          <a:prstGeom prst="rect">
            <a:avLst/>
          </a:prstGeom>
        </p:spPr>
        <p:txBody>
          <a:bodyPr anchor="t" rtlCol="false" tIns="0" lIns="0" bIns="0" rIns="0">
            <a:spAutoFit/>
          </a:bodyPr>
          <a:lstStyle/>
          <a:p>
            <a:pPr algn="just" marL="0" indent="0" lvl="0">
              <a:lnSpc>
                <a:spcPts val="3497"/>
              </a:lnSpc>
              <a:spcBef>
                <a:spcPct val="0"/>
              </a:spcBef>
            </a:pPr>
            <a:r>
              <a:rPr lang="en-US" b="true" sz="2498">
                <a:solidFill>
                  <a:srgbClr val="6B7280"/>
                </a:solidFill>
                <a:latin typeface="Inter Bold"/>
                <a:ea typeface="Inter Bold"/>
                <a:cs typeface="Inter Bold"/>
                <a:sym typeface="Inter Bold"/>
              </a:rPr>
              <a:t>Modbus</a:t>
            </a:r>
          </a:p>
        </p:txBody>
      </p:sp>
      <p:sp>
        <p:nvSpPr>
          <p:cNvPr name="TextBox 15" id="15"/>
          <p:cNvSpPr txBox="true"/>
          <p:nvPr/>
        </p:nvSpPr>
        <p:spPr>
          <a:xfrm rot="0">
            <a:off x="12376936" y="7342966"/>
            <a:ext cx="3733319" cy="412795"/>
          </a:xfrm>
          <a:prstGeom prst="rect">
            <a:avLst/>
          </a:prstGeom>
        </p:spPr>
        <p:txBody>
          <a:bodyPr anchor="t" rtlCol="false" tIns="0" lIns="0" bIns="0" rIns="0">
            <a:spAutoFit/>
          </a:bodyPr>
          <a:lstStyle/>
          <a:p>
            <a:pPr algn="just" marL="0" indent="0" lvl="0">
              <a:lnSpc>
                <a:spcPts val="3497"/>
              </a:lnSpc>
              <a:spcBef>
                <a:spcPct val="0"/>
              </a:spcBef>
            </a:pPr>
            <a:r>
              <a:rPr lang="en-US" b="true" sz="2498">
                <a:solidFill>
                  <a:srgbClr val="6B7280"/>
                </a:solidFill>
                <a:latin typeface="Inter Bold"/>
                <a:ea typeface="Inter Bold"/>
                <a:cs typeface="Inter Bold"/>
                <a:sym typeface="Inter Bold"/>
              </a:rPr>
              <a:t>Ethernet/IP</a:t>
            </a:r>
          </a:p>
        </p:txBody>
      </p:sp>
      <p:sp>
        <p:nvSpPr>
          <p:cNvPr name="TextBox 16" id="16"/>
          <p:cNvSpPr txBox="true"/>
          <p:nvPr/>
        </p:nvSpPr>
        <p:spPr>
          <a:xfrm rot="0">
            <a:off x="12376936" y="2559952"/>
            <a:ext cx="4147352" cy="789255"/>
          </a:xfrm>
          <a:prstGeom prst="rect">
            <a:avLst/>
          </a:prstGeom>
        </p:spPr>
        <p:txBody>
          <a:bodyPr anchor="t" rtlCol="false" tIns="0" lIns="0" bIns="0" rIns="0">
            <a:spAutoFit/>
          </a:bodyPr>
          <a:lstStyle/>
          <a:p>
            <a:pPr algn="l" marL="0" indent="0" lvl="0">
              <a:lnSpc>
                <a:spcPts val="3222"/>
              </a:lnSpc>
              <a:spcBef>
                <a:spcPct val="0"/>
              </a:spcBef>
            </a:pPr>
            <a:r>
              <a:rPr lang="en-US" sz="2301">
                <a:solidFill>
                  <a:srgbClr val="6B7280"/>
                </a:solidFill>
                <a:latin typeface="Inter"/>
                <a:ea typeface="Inter"/>
                <a:cs typeface="Inter"/>
                <a:sym typeface="Inter"/>
              </a:rPr>
              <a:t>Lightweight publish-subscribe messaging for IoT devices.</a:t>
            </a:r>
          </a:p>
        </p:txBody>
      </p:sp>
      <p:sp>
        <p:nvSpPr>
          <p:cNvPr name="TextBox 17" id="17"/>
          <p:cNvSpPr txBox="true"/>
          <p:nvPr/>
        </p:nvSpPr>
        <p:spPr>
          <a:xfrm rot="0">
            <a:off x="12376936" y="4329891"/>
            <a:ext cx="4147352" cy="789255"/>
          </a:xfrm>
          <a:prstGeom prst="rect">
            <a:avLst/>
          </a:prstGeom>
        </p:spPr>
        <p:txBody>
          <a:bodyPr anchor="t" rtlCol="false" tIns="0" lIns="0" bIns="0" rIns="0">
            <a:spAutoFit/>
          </a:bodyPr>
          <a:lstStyle/>
          <a:p>
            <a:pPr algn="l" marL="0" indent="0" lvl="0">
              <a:lnSpc>
                <a:spcPts val="3222"/>
              </a:lnSpc>
              <a:spcBef>
                <a:spcPct val="0"/>
              </a:spcBef>
            </a:pPr>
            <a:r>
              <a:rPr lang="en-US" sz="2301">
                <a:solidFill>
                  <a:srgbClr val="6B7280"/>
                </a:solidFill>
                <a:latin typeface="Inter"/>
                <a:ea typeface="Inter"/>
                <a:cs typeface="Inter"/>
                <a:sym typeface="Inter"/>
              </a:rPr>
              <a:t>Secure machine-to-machine communication standard.</a:t>
            </a:r>
          </a:p>
        </p:txBody>
      </p:sp>
      <p:sp>
        <p:nvSpPr>
          <p:cNvPr name="TextBox 18" id="18"/>
          <p:cNvSpPr txBox="true"/>
          <p:nvPr/>
        </p:nvSpPr>
        <p:spPr>
          <a:xfrm rot="0">
            <a:off x="12376936" y="6101541"/>
            <a:ext cx="4147352" cy="789255"/>
          </a:xfrm>
          <a:prstGeom prst="rect">
            <a:avLst/>
          </a:prstGeom>
        </p:spPr>
        <p:txBody>
          <a:bodyPr anchor="t" rtlCol="false" tIns="0" lIns="0" bIns="0" rIns="0">
            <a:spAutoFit/>
          </a:bodyPr>
          <a:lstStyle/>
          <a:p>
            <a:pPr algn="l" marL="0" indent="0" lvl="0">
              <a:lnSpc>
                <a:spcPts val="3222"/>
              </a:lnSpc>
              <a:spcBef>
                <a:spcPct val="0"/>
              </a:spcBef>
            </a:pPr>
            <a:r>
              <a:rPr lang="en-US" sz="2301">
                <a:solidFill>
                  <a:srgbClr val="6B7280"/>
                </a:solidFill>
                <a:latin typeface="Inter"/>
                <a:ea typeface="Inter"/>
                <a:cs typeface="Inter"/>
                <a:sym typeface="Inter"/>
              </a:rPr>
              <a:t>Serial protocol for connecting industrial PLCs.</a:t>
            </a:r>
          </a:p>
        </p:txBody>
      </p:sp>
      <p:sp>
        <p:nvSpPr>
          <p:cNvPr name="TextBox 19" id="19"/>
          <p:cNvSpPr txBox="true"/>
          <p:nvPr/>
        </p:nvSpPr>
        <p:spPr>
          <a:xfrm rot="0">
            <a:off x="12376936" y="7873191"/>
            <a:ext cx="4147352" cy="789255"/>
          </a:xfrm>
          <a:prstGeom prst="rect">
            <a:avLst/>
          </a:prstGeom>
        </p:spPr>
        <p:txBody>
          <a:bodyPr anchor="t" rtlCol="false" tIns="0" lIns="0" bIns="0" rIns="0">
            <a:spAutoFit/>
          </a:bodyPr>
          <a:lstStyle/>
          <a:p>
            <a:pPr algn="l" marL="0" indent="0" lvl="0">
              <a:lnSpc>
                <a:spcPts val="3222"/>
              </a:lnSpc>
              <a:spcBef>
                <a:spcPct val="0"/>
              </a:spcBef>
            </a:pPr>
            <a:r>
              <a:rPr lang="en-US" sz="2301">
                <a:solidFill>
                  <a:srgbClr val="6B7280"/>
                </a:solidFill>
                <a:latin typeface="Inter"/>
                <a:ea typeface="Inter"/>
                <a:cs typeface="Inter"/>
                <a:sym typeface="Inter"/>
              </a:rPr>
              <a:t>Real-time industrial automation networking.</a:t>
            </a:r>
          </a:p>
        </p:txBody>
      </p:sp>
      <p:sp>
        <p:nvSpPr>
          <p:cNvPr name="Freeform 20" id="20"/>
          <p:cNvSpPr/>
          <p:nvPr/>
        </p:nvSpPr>
        <p:spPr>
          <a:xfrm flipH="false" flipV="false" rot="0">
            <a:off x="5424227" y="5271227"/>
            <a:ext cx="3776383" cy="2964460"/>
          </a:xfrm>
          <a:custGeom>
            <a:avLst/>
            <a:gdLst/>
            <a:ahLst/>
            <a:cxnLst/>
            <a:rect r="r" b="b" t="t" l="l"/>
            <a:pathLst>
              <a:path h="2964460" w="3776383">
                <a:moveTo>
                  <a:pt x="0" y="0"/>
                </a:moveTo>
                <a:lnTo>
                  <a:pt x="3776383" y="0"/>
                </a:lnTo>
                <a:lnTo>
                  <a:pt x="3776383" y="2964460"/>
                </a:lnTo>
                <a:lnTo>
                  <a:pt x="0" y="2964460"/>
                </a:lnTo>
                <a:lnTo>
                  <a:pt x="0" y="0"/>
                </a:lnTo>
                <a:close/>
              </a:path>
            </a:pathLst>
          </a:custGeom>
          <a:blipFill>
            <a:blip r:embed="rId7"/>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4668767" y="5341624"/>
            <a:ext cx="8950467" cy="3916676"/>
            <a:chOff x="0" y="0"/>
            <a:chExt cx="2357325" cy="1031552"/>
          </a:xfrm>
        </p:grpSpPr>
        <p:sp>
          <p:nvSpPr>
            <p:cNvPr name="Freeform 3" id="3"/>
            <p:cNvSpPr/>
            <p:nvPr/>
          </p:nvSpPr>
          <p:spPr>
            <a:xfrm flipH="false" flipV="false" rot="0">
              <a:off x="0" y="0"/>
              <a:ext cx="2357325" cy="1031552"/>
            </a:xfrm>
            <a:custGeom>
              <a:avLst/>
              <a:gdLst/>
              <a:ahLst/>
              <a:cxnLst/>
              <a:rect r="r" b="b" t="t" l="l"/>
              <a:pathLst>
                <a:path h="1031552" w="2357325">
                  <a:moveTo>
                    <a:pt x="31139" y="0"/>
                  </a:moveTo>
                  <a:lnTo>
                    <a:pt x="2326186" y="0"/>
                  </a:lnTo>
                  <a:cubicBezTo>
                    <a:pt x="2334444" y="0"/>
                    <a:pt x="2342365" y="3281"/>
                    <a:pt x="2348204" y="9120"/>
                  </a:cubicBezTo>
                  <a:cubicBezTo>
                    <a:pt x="2354044" y="14960"/>
                    <a:pt x="2357325" y="22880"/>
                    <a:pt x="2357325" y="31139"/>
                  </a:cubicBezTo>
                  <a:lnTo>
                    <a:pt x="2357325" y="1000413"/>
                  </a:lnTo>
                  <a:cubicBezTo>
                    <a:pt x="2357325" y="1008672"/>
                    <a:pt x="2354044" y="1016592"/>
                    <a:pt x="2348204" y="1022432"/>
                  </a:cubicBezTo>
                  <a:cubicBezTo>
                    <a:pt x="2342365" y="1028272"/>
                    <a:pt x="2334444" y="1031552"/>
                    <a:pt x="2326186" y="1031552"/>
                  </a:cubicBezTo>
                  <a:lnTo>
                    <a:pt x="31139" y="1031552"/>
                  </a:lnTo>
                  <a:cubicBezTo>
                    <a:pt x="22880" y="1031552"/>
                    <a:pt x="14960" y="1028272"/>
                    <a:pt x="9120" y="1022432"/>
                  </a:cubicBezTo>
                  <a:cubicBezTo>
                    <a:pt x="3281" y="1016592"/>
                    <a:pt x="0" y="1008672"/>
                    <a:pt x="0" y="1000413"/>
                  </a:cubicBezTo>
                  <a:lnTo>
                    <a:pt x="0" y="31139"/>
                  </a:lnTo>
                  <a:cubicBezTo>
                    <a:pt x="0" y="22880"/>
                    <a:pt x="3281" y="14960"/>
                    <a:pt x="9120" y="9120"/>
                  </a:cubicBezTo>
                  <a:cubicBezTo>
                    <a:pt x="14960" y="3281"/>
                    <a:pt x="22880" y="0"/>
                    <a:pt x="31139" y="0"/>
                  </a:cubicBezTo>
                  <a:close/>
                </a:path>
              </a:pathLst>
            </a:custGeom>
            <a:solidFill>
              <a:srgbClr val="D1FAE5"/>
            </a:solidFill>
          </p:spPr>
        </p:sp>
        <p:sp>
          <p:nvSpPr>
            <p:cNvPr name="TextBox 4" id="4"/>
            <p:cNvSpPr txBox="true"/>
            <p:nvPr/>
          </p:nvSpPr>
          <p:spPr>
            <a:xfrm>
              <a:off x="0" y="-38100"/>
              <a:ext cx="2357325" cy="1069652"/>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1674755" y="4784538"/>
            <a:ext cx="2614487" cy="2614487"/>
          </a:xfrm>
          <a:custGeom>
            <a:avLst/>
            <a:gdLst/>
            <a:ahLst/>
            <a:cxnLst/>
            <a:rect r="r" b="b" t="t" l="l"/>
            <a:pathLst>
              <a:path h="2614487" w="2614487">
                <a:moveTo>
                  <a:pt x="0" y="0"/>
                </a:moveTo>
                <a:lnTo>
                  <a:pt x="2614487" y="0"/>
                </a:lnTo>
                <a:lnTo>
                  <a:pt x="2614487" y="2614486"/>
                </a:lnTo>
                <a:lnTo>
                  <a:pt x="0" y="26144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4000233" y="6472390"/>
            <a:ext cx="2614487" cy="2614487"/>
          </a:xfrm>
          <a:custGeom>
            <a:avLst/>
            <a:gdLst/>
            <a:ahLst/>
            <a:cxnLst/>
            <a:rect r="r" b="b" t="t" l="l"/>
            <a:pathLst>
              <a:path h="2614487" w="2614487">
                <a:moveTo>
                  <a:pt x="2614487" y="0"/>
                </a:moveTo>
                <a:lnTo>
                  <a:pt x="0" y="0"/>
                </a:lnTo>
                <a:lnTo>
                  <a:pt x="0" y="2614487"/>
                </a:lnTo>
                <a:lnTo>
                  <a:pt x="2614487" y="2614487"/>
                </a:lnTo>
                <a:lnTo>
                  <a:pt x="261448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162073" y="5705727"/>
            <a:ext cx="1540610" cy="950845"/>
          </a:xfrm>
          <a:custGeom>
            <a:avLst/>
            <a:gdLst/>
            <a:ahLst/>
            <a:cxnLst/>
            <a:rect r="r" b="b" t="t" l="l"/>
            <a:pathLst>
              <a:path h="950845" w="1540610">
                <a:moveTo>
                  <a:pt x="0" y="0"/>
                </a:moveTo>
                <a:lnTo>
                  <a:pt x="1540610" y="0"/>
                </a:lnTo>
                <a:lnTo>
                  <a:pt x="1540610" y="950845"/>
                </a:lnTo>
                <a:lnTo>
                  <a:pt x="0" y="950845"/>
                </a:lnTo>
                <a:lnTo>
                  <a:pt x="0" y="0"/>
                </a:lnTo>
                <a:close/>
              </a:path>
            </a:pathLst>
          </a:custGeom>
          <a:blipFill>
            <a:blip r:embed="rId4"/>
            <a:stretch>
              <a:fillRect l="0" t="0" r="0" b="0"/>
            </a:stretch>
          </a:blipFill>
        </p:spPr>
      </p:sp>
      <p:sp>
        <p:nvSpPr>
          <p:cNvPr name="Freeform 8" id="8"/>
          <p:cNvSpPr/>
          <p:nvPr/>
        </p:nvSpPr>
        <p:spPr>
          <a:xfrm flipH="false" flipV="false" rot="0">
            <a:off x="14666684" y="7271380"/>
            <a:ext cx="1303932" cy="962819"/>
          </a:xfrm>
          <a:custGeom>
            <a:avLst/>
            <a:gdLst/>
            <a:ahLst/>
            <a:cxnLst/>
            <a:rect r="r" b="b" t="t" l="l"/>
            <a:pathLst>
              <a:path h="962819" w="1303932">
                <a:moveTo>
                  <a:pt x="0" y="0"/>
                </a:moveTo>
                <a:lnTo>
                  <a:pt x="1303932" y="0"/>
                </a:lnTo>
                <a:lnTo>
                  <a:pt x="1303932" y="962818"/>
                </a:lnTo>
                <a:lnTo>
                  <a:pt x="0" y="962818"/>
                </a:lnTo>
                <a:lnTo>
                  <a:pt x="0" y="0"/>
                </a:lnTo>
                <a:close/>
              </a:path>
            </a:pathLst>
          </a:custGeom>
          <a:blipFill>
            <a:blip r:embed="rId5"/>
            <a:stretch>
              <a:fillRect l="0" t="0" r="0" b="0"/>
            </a:stretch>
          </a:blipFill>
        </p:spPr>
      </p:sp>
      <p:sp>
        <p:nvSpPr>
          <p:cNvPr name="Freeform 9" id="9"/>
          <p:cNvSpPr/>
          <p:nvPr/>
        </p:nvSpPr>
        <p:spPr>
          <a:xfrm flipH="false" flipV="false" rot="0">
            <a:off x="1666256" y="1885334"/>
            <a:ext cx="2237089" cy="1649853"/>
          </a:xfrm>
          <a:custGeom>
            <a:avLst/>
            <a:gdLst/>
            <a:ahLst/>
            <a:cxnLst/>
            <a:rect r="r" b="b" t="t" l="l"/>
            <a:pathLst>
              <a:path h="1649853" w="2237089">
                <a:moveTo>
                  <a:pt x="0" y="0"/>
                </a:moveTo>
                <a:lnTo>
                  <a:pt x="2237089" y="0"/>
                </a:lnTo>
                <a:lnTo>
                  <a:pt x="2237089" y="1649853"/>
                </a:lnTo>
                <a:lnTo>
                  <a:pt x="0" y="1649853"/>
                </a:lnTo>
                <a:lnTo>
                  <a:pt x="0" y="0"/>
                </a:lnTo>
                <a:close/>
              </a:path>
            </a:pathLst>
          </a:custGeom>
          <a:blipFill>
            <a:blip r:embed="rId6"/>
            <a:stretch>
              <a:fillRect l="0" t="0" r="0" b="0"/>
            </a:stretch>
          </a:blipFill>
        </p:spPr>
      </p:sp>
      <p:sp>
        <p:nvSpPr>
          <p:cNvPr name="Freeform 10" id="10"/>
          <p:cNvSpPr/>
          <p:nvPr/>
        </p:nvSpPr>
        <p:spPr>
          <a:xfrm flipH="false" flipV="false" rot="0">
            <a:off x="15715734" y="1569472"/>
            <a:ext cx="1401878" cy="983170"/>
          </a:xfrm>
          <a:custGeom>
            <a:avLst/>
            <a:gdLst/>
            <a:ahLst/>
            <a:cxnLst/>
            <a:rect r="r" b="b" t="t" l="l"/>
            <a:pathLst>
              <a:path h="983170" w="1401878">
                <a:moveTo>
                  <a:pt x="0" y="0"/>
                </a:moveTo>
                <a:lnTo>
                  <a:pt x="1401878" y="0"/>
                </a:lnTo>
                <a:lnTo>
                  <a:pt x="1401878" y="983170"/>
                </a:lnTo>
                <a:lnTo>
                  <a:pt x="0" y="983170"/>
                </a:lnTo>
                <a:lnTo>
                  <a:pt x="0" y="0"/>
                </a:lnTo>
                <a:close/>
              </a:path>
            </a:pathLst>
          </a:custGeom>
          <a:blipFill>
            <a:blip r:embed="rId7"/>
            <a:stretch>
              <a:fillRect l="0" t="0" r="0" b="0"/>
            </a:stretch>
          </a:blipFill>
        </p:spPr>
      </p:sp>
      <p:sp>
        <p:nvSpPr>
          <p:cNvPr name="TextBox 11" id="11"/>
          <p:cNvSpPr txBox="true"/>
          <p:nvPr/>
        </p:nvSpPr>
        <p:spPr>
          <a:xfrm rot="0">
            <a:off x="4998696" y="876300"/>
            <a:ext cx="8312264" cy="1384718"/>
          </a:xfrm>
          <a:prstGeom prst="rect">
            <a:avLst/>
          </a:prstGeom>
        </p:spPr>
        <p:txBody>
          <a:bodyPr anchor="t" rtlCol="false" tIns="0" lIns="0" bIns="0" rIns="0">
            <a:spAutoFit/>
          </a:bodyPr>
          <a:lstStyle/>
          <a:p>
            <a:pPr algn="l" marL="0" indent="0" lvl="0">
              <a:lnSpc>
                <a:spcPts val="11351"/>
              </a:lnSpc>
            </a:pPr>
            <a:r>
              <a:rPr lang="en-US" b="true" sz="8108">
                <a:solidFill>
                  <a:srgbClr val="1F1F1F"/>
                </a:solidFill>
                <a:latin typeface="Montserrat Bold"/>
                <a:ea typeface="Montserrat Bold"/>
                <a:cs typeface="Montserrat Bold"/>
                <a:sym typeface="Montserrat Bold"/>
              </a:rPr>
              <a:t>Data Collection</a:t>
            </a:r>
          </a:p>
        </p:txBody>
      </p:sp>
      <p:sp>
        <p:nvSpPr>
          <p:cNvPr name="TextBox 12" id="12"/>
          <p:cNvSpPr txBox="true"/>
          <p:nvPr/>
        </p:nvSpPr>
        <p:spPr>
          <a:xfrm rot="0">
            <a:off x="5729342" y="2014794"/>
            <a:ext cx="7581618" cy="1384718"/>
          </a:xfrm>
          <a:prstGeom prst="rect">
            <a:avLst/>
          </a:prstGeom>
        </p:spPr>
        <p:txBody>
          <a:bodyPr anchor="t" rtlCol="false" tIns="0" lIns="0" bIns="0" rIns="0">
            <a:spAutoFit/>
          </a:bodyPr>
          <a:lstStyle/>
          <a:p>
            <a:pPr algn="l" marL="0" indent="0" lvl="0">
              <a:lnSpc>
                <a:spcPts val="11351"/>
              </a:lnSpc>
            </a:pPr>
            <a:r>
              <a:rPr lang="en-US" b="true" sz="8108">
                <a:solidFill>
                  <a:srgbClr val="10B981"/>
                </a:solidFill>
                <a:latin typeface="Montserrat Bold"/>
                <a:ea typeface="Montserrat Bold"/>
                <a:cs typeface="Montserrat Bold"/>
                <a:sym typeface="Montserrat Bold"/>
              </a:rPr>
              <a:t>Process</a:t>
            </a:r>
          </a:p>
        </p:txBody>
      </p:sp>
      <p:sp>
        <p:nvSpPr>
          <p:cNvPr name="TextBox 13" id="13"/>
          <p:cNvSpPr txBox="true"/>
          <p:nvPr/>
        </p:nvSpPr>
        <p:spPr>
          <a:xfrm rot="0">
            <a:off x="5475104" y="5979162"/>
            <a:ext cx="7359449" cy="2603545"/>
          </a:xfrm>
          <a:prstGeom prst="rect">
            <a:avLst/>
          </a:prstGeom>
        </p:spPr>
        <p:txBody>
          <a:bodyPr anchor="t" rtlCol="false" tIns="0" lIns="0" bIns="0" rIns="0">
            <a:spAutoFit/>
          </a:bodyPr>
          <a:lstStyle/>
          <a:p>
            <a:pPr algn="ctr" marL="0" indent="0" lvl="0">
              <a:lnSpc>
                <a:spcPts val="3497"/>
              </a:lnSpc>
              <a:spcBef>
                <a:spcPct val="0"/>
              </a:spcBef>
            </a:pPr>
            <a:r>
              <a:rPr lang="en-US" sz="2498">
                <a:solidFill>
                  <a:srgbClr val="6B7280"/>
                </a:solidFill>
                <a:latin typeface="Inter"/>
                <a:ea typeface="Inter"/>
                <a:cs typeface="Inter"/>
                <a:sym typeface="Inter"/>
              </a:rPr>
              <a:t>IoT sensors continuously collect data from industrial equipment including temperature, pressure, vibration, and flow rates. This data is transmitted via industrial protocols like MQTT or OPC-UA to edge gateways, then forwarded to cloud platforms for processing and analysis.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1028700" y="6178452"/>
            <a:ext cx="7882440" cy="3079848"/>
            <a:chOff x="0" y="0"/>
            <a:chExt cx="2076034" cy="811153"/>
          </a:xfrm>
        </p:grpSpPr>
        <p:sp>
          <p:nvSpPr>
            <p:cNvPr name="Freeform 3" id="3"/>
            <p:cNvSpPr/>
            <p:nvPr/>
          </p:nvSpPr>
          <p:spPr>
            <a:xfrm flipH="false" flipV="false" rot="0">
              <a:off x="0" y="0"/>
              <a:ext cx="2076034" cy="811153"/>
            </a:xfrm>
            <a:custGeom>
              <a:avLst/>
              <a:gdLst/>
              <a:ahLst/>
              <a:cxnLst/>
              <a:rect r="r" b="b" t="t" l="l"/>
              <a:pathLst>
                <a:path h="811153" w="2076034">
                  <a:moveTo>
                    <a:pt x="35358" y="0"/>
                  </a:moveTo>
                  <a:lnTo>
                    <a:pt x="2040675" y="0"/>
                  </a:lnTo>
                  <a:cubicBezTo>
                    <a:pt x="2060203" y="0"/>
                    <a:pt x="2076034" y="15830"/>
                    <a:pt x="2076034" y="35358"/>
                  </a:cubicBezTo>
                  <a:lnTo>
                    <a:pt x="2076034" y="775795"/>
                  </a:lnTo>
                  <a:cubicBezTo>
                    <a:pt x="2076034" y="795323"/>
                    <a:pt x="2060203" y="811153"/>
                    <a:pt x="2040675" y="811153"/>
                  </a:cubicBezTo>
                  <a:lnTo>
                    <a:pt x="35358" y="811153"/>
                  </a:lnTo>
                  <a:cubicBezTo>
                    <a:pt x="15830" y="811153"/>
                    <a:pt x="0" y="795323"/>
                    <a:pt x="0" y="775795"/>
                  </a:cubicBezTo>
                  <a:lnTo>
                    <a:pt x="0" y="35358"/>
                  </a:lnTo>
                  <a:cubicBezTo>
                    <a:pt x="0" y="15830"/>
                    <a:pt x="15830" y="0"/>
                    <a:pt x="35358" y="0"/>
                  </a:cubicBezTo>
                  <a:close/>
                </a:path>
              </a:pathLst>
            </a:custGeom>
            <a:solidFill>
              <a:srgbClr val="D1FAE5"/>
            </a:solidFill>
          </p:spPr>
        </p:sp>
        <p:sp>
          <p:nvSpPr>
            <p:cNvPr name="TextBox 4" id="4"/>
            <p:cNvSpPr txBox="true"/>
            <p:nvPr/>
          </p:nvSpPr>
          <p:spPr>
            <a:xfrm>
              <a:off x="0" y="-38100"/>
              <a:ext cx="2076034" cy="849253"/>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15068466" y="1028700"/>
            <a:ext cx="2190834" cy="1517651"/>
          </a:xfrm>
          <a:custGeom>
            <a:avLst/>
            <a:gdLst/>
            <a:ahLst/>
            <a:cxnLst/>
            <a:rect r="r" b="b" t="t" l="l"/>
            <a:pathLst>
              <a:path h="1517651" w="2190834">
                <a:moveTo>
                  <a:pt x="0" y="0"/>
                </a:moveTo>
                <a:lnTo>
                  <a:pt x="2190834" y="0"/>
                </a:lnTo>
                <a:lnTo>
                  <a:pt x="2190834" y="1517651"/>
                </a:lnTo>
                <a:lnTo>
                  <a:pt x="0" y="1517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910257" y="5031357"/>
            <a:ext cx="9305076" cy="3954657"/>
          </a:xfrm>
          <a:custGeom>
            <a:avLst/>
            <a:gdLst/>
            <a:ahLst/>
            <a:cxnLst/>
            <a:rect r="r" b="b" t="t" l="l"/>
            <a:pathLst>
              <a:path h="3954657" w="9305076">
                <a:moveTo>
                  <a:pt x="0" y="0"/>
                </a:moveTo>
                <a:lnTo>
                  <a:pt x="9305075" y="0"/>
                </a:lnTo>
                <a:lnTo>
                  <a:pt x="9305075" y="3954657"/>
                </a:lnTo>
                <a:lnTo>
                  <a:pt x="0" y="3954657"/>
                </a:lnTo>
                <a:lnTo>
                  <a:pt x="0" y="0"/>
                </a:lnTo>
                <a:close/>
              </a:path>
            </a:pathLst>
          </a:custGeom>
          <a:blipFill>
            <a:blip r:embed="rId4"/>
            <a:stretch>
              <a:fillRect l="0" t="0" r="0" b="0"/>
            </a:stretch>
          </a:blipFill>
        </p:spPr>
      </p:sp>
      <p:sp>
        <p:nvSpPr>
          <p:cNvPr name="Freeform 7" id="7"/>
          <p:cNvSpPr/>
          <p:nvPr/>
        </p:nvSpPr>
        <p:spPr>
          <a:xfrm flipH="false" flipV="false" rot="0">
            <a:off x="10008480" y="3350755"/>
            <a:ext cx="1604666" cy="1604666"/>
          </a:xfrm>
          <a:custGeom>
            <a:avLst/>
            <a:gdLst/>
            <a:ahLst/>
            <a:cxnLst/>
            <a:rect r="r" b="b" t="t" l="l"/>
            <a:pathLst>
              <a:path h="1604666" w="1604666">
                <a:moveTo>
                  <a:pt x="0" y="0"/>
                </a:moveTo>
                <a:lnTo>
                  <a:pt x="1604666" y="0"/>
                </a:lnTo>
                <a:lnTo>
                  <a:pt x="1604666" y="1604666"/>
                </a:lnTo>
                <a:lnTo>
                  <a:pt x="0" y="1604666"/>
                </a:lnTo>
                <a:lnTo>
                  <a:pt x="0" y="0"/>
                </a:lnTo>
                <a:close/>
              </a:path>
            </a:pathLst>
          </a:custGeom>
          <a:blipFill>
            <a:blip r:embed="rId5"/>
            <a:stretch>
              <a:fillRect l="0" t="0" r="0" b="0"/>
            </a:stretch>
          </a:blipFill>
        </p:spPr>
      </p:sp>
      <p:sp>
        <p:nvSpPr>
          <p:cNvPr name="Freeform 8" id="8"/>
          <p:cNvSpPr/>
          <p:nvPr/>
        </p:nvSpPr>
        <p:spPr>
          <a:xfrm flipH="false" flipV="false" rot="0">
            <a:off x="10236278" y="3330583"/>
            <a:ext cx="963796" cy="1003727"/>
          </a:xfrm>
          <a:custGeom>
            <a:avLst/>
            <a:gdLst/>
            <a:ahLst/>
            <a:cxnLst/>
            <a:rect r="r" b="b" t="t" l="l"/>
            <a:pathLst>
              <a:path h="1003727" w="963796">
                <a:moveTo>
                  <a:pt x="0" y="0"/>
                </a:moveTo>
                <a:lnTo>
                  <a:pt x="963796" y="0"/>
                </a:lnTo>
                <a:lnTo>
                  <a:pt x="963796" y="1003728"/>
                </a:lnTo>
                <a:lnTo>
                  <a:pt x="0" y="1003728"/>
                </a:lnTo>
                <a:lnTo>
                  <a:pt x="0" y="0"/>
                </a:lnTo>
                <a:close/>
              </a:path>
            </a:pathLst>
          </a:custGeom>
          <a:blipFill>
            <a:blip r:embed="rId6"/>
            <a:stretch>
              <a:fillRect l="0" t="0" r="0" b="0"/>
            </a:stretch>
          </a:blipFill>
        </p:spPr>
      </p:sp>
      <p:sp>
        <p:nvSpPr>
          <p:cNvPr name="TextBox 9" id="9"/>
          <p:cNvSpPr txBox="true"/>
          <p:nvPr/>
        </p:nvSpPr>
        <p:spPr>
          <a:xfrm rot="0">
            <a:off x="1028700" y="876300"/>
            <a:ext cx="7882440" cy="1327349"/>
          </a:xfrm>
          <a:prstGeom prst="rect">
            <a:avLst/>
          </a:prstGeom>
        </p:spPr>
        <p:txBody>
          <a:bodyPr anchor="t" rtlCol="false" tIns="0" lIns="0" bIns="0" rIns="0">
            <a:spAutoFit/>
          </a:bodyPr>
          <a:lstStyle/>
          <a:p>
            <a:pPr algn="l" marL="0" indent="0" lvl="0">
              <a:lnSpc>
                <a:spcPts val="10839"/>
              </a:lnSpc>
            </a:pPr>
            <a:r>
              <a:rPr lang="en-US" b="true" sz="7742">
                <a:solidFill>
                  <a:srgbClr val="1F1F1F"/>
                </a:solidFill>
                <a:latin typeface="Montserrat Bold"/>
                <a:ea typeface="Montserrat Bold"/>
                <a:cs typeface="Montserrat Bold"/>
                <a:sym typeface="Montserrat Bold"/>
              </a:rPr>
              <a:t>Real-Time Data</a:t>
            </a:r>
          </a:p>
        </p:txBody>
      </p:sp>
      <p:sp>
        <p:nvSpPr>
          <p:cNvPr name="TextBox 10" id="10"/>
          <p:cNvSpPr txBox="true"/>
          <p:nvPr/>
        </p:nvSpPr>
        <p:spPr>
          <a:xfrm rot="0">
            <a:off x="1774257" y="2014472"/>
            <a:ext cx="7136884" cy="1327349"/>
          </a:xfrm>
          <a:prstGeom prst="rect">
            <a:avLst/>
          </a:prstGeom>
        </p:spPr>
        <p:txBody>
          <a:bodyPr anchor="t" rtlCol="false" tIns="0" lIns="0" bIns="0" rIns="0">
            <a:spAutoFit/>
          </a:bodyPr>
          <a:lstStyle/>
          <a:p>
            <a:pPr algn="l" marL="0" indent="0" lvl="0">
              <a:lnSpc>
                <a:spcPts val="10839"/>
              </a:lnSpc>
            </a:pPr>
            <a:r>
              <a:rPr lang="en-US" b="true" sz="7742">
                <a:solidFill>
                  <a:srgbClr val="10B981"/>
                </a:solidFill>
                <a:latin typeface="Montserrat Bold"/>
                <a:ea typeface="Montserrat Bold"/>
                <a:cs typeface="Montserrat Bold"/>
                <a:sym typeface="Montserrat Bold"/>
              </a:rPr>
              <a:t>Analytics</a:t>
            </a:r>
          </a:p>
        </p:txBody>
      </p:sp>
      <p:sp>
        <p:nvSpPr>
          <p:cNvPr name="TextBox 11" id="11"/>
          <p:cNvSpPr txBox="true"/>
          <p:nvPr/>
        </p:nvSpPr>
        <p:spPr>
          <a:xfrm rot="0">
            <a:off x="1561324" y="6607126"/>
            <a:ext cx="6817193" cy="1943442"/>
          </a:xfrm>
          <a:prstGeom prst="rect">
            <a:avLst/>
          </a:prstGeom>
        </p:spPr>
        <p:txBody>
          <a:bodyPr anchor="t" rtlCol="false" tIns="0" lIns="0" bIns="0" rIns="0">
            <a:spAutoFit/>
          </a:bodyPr>
          <a:lstStyle/>
          <a:p>
            <a:pPr algn="l" marL="0" indent="0" lvl="0">
              <a:lnSpc>
                <a:spcPts val="3131"/>
              </a:lnSpc>
              <a:spcBef>
                <a:spcPct val="0"/>
              </a:spcBef>
            </a:pPr>
            <a:r>
              <a:rPr lang="en-US" sz="2236">
                <a:solidFill>
                  <a:srgbClr val="6B7280"/>
                </a:solidFill>
                <a:latin typeface="Inter"/>
                <a:ea typeface="Inter"/>
                <a:cs typeface="Inter"/>
                <a:sym typeface="Inter"/>
              </a:rPr>
              <a:t>IoT-enabled ICS leverages edge computing to process data locally, reducing latency from seconds to milliseconds. Real-time analytics enable predictive maintenance, anomaly detection, and instant decision-making at the factory floor level.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702170" y="5939125"/>
            <a:ext cx="16883659" cy="3319175"/>
            <a:chOff x="0" y="0"/>
            <a:chExt cx="4446725" cy="874186"/>
          </a:xfrm>
        </p:grpSpPr>
        <p:sp>
          <p:nvSpPr>
            <p:cNvPr name="Freeform 3" id="3"/>
            <p:cNvSpPr/>
            <p:nvPr/>
          </p:nvSpPr>
          <p:spPr>
            <a:xfrm flipH="false" flipV="false" rot="0">
              <a:off x="0" y="0"/>
              <a:ext cx="4446725" cy="874186"/>
            </a:xfrm>
            <a:custGeom>
              <a:avLst/>
              <a:gdLst/>
              <a:ahLst/>
              <a:cxnLst/>
              <a:rect r="r" b="b" t="t" l="l"/>
              <a:pathLst>
                <a:path h="874186" w="4446725">
                  <a:moveTo>
                    <a:pt x="16508" y="0"/>
                  </a:moveTo>
                  <a:lnTo>
                    <a:pt x="4430218" y="0"/>
                  </a:lnTo>
                  <a:cubicBezTo>
                    <a:pt x="4434596" y="0"/>
                    <a:pt x="4438794" y="1739"/>
                    <a:pt x="4441890" y="4835"/>
                  </a:cubicBezTo>
                  <a:cubicBezTo>
                    <a:pt x="4444986" y="7931"/>
                    <a:pt x="4446725" y="12130"/>
                    <a:pt x="4446725" y="16508"/>
                  </a:cubicBezTo>
                  <a:lnTo>
                    <a:pt x="4446725" y="857678"/>
                  </a:lnTo>
                  <a:cubicBezTo>
                    <a:pt x="4446725" y="862056"/>
                    <a:pt x="4444986" y="866255"/>
                    <a:pt x="4441890" y="869351"/>
                  </a:cubicBezTo>
                  <a:cubicBezTo>
                    <a:pt x="4438794" y="872447"/>
                    <a:pt x="4434596" y="874186"/>
                    <a:pt x="4430218" y="874186"/>
                  </a:cubicBezTo>
                  <a:lnTo>
                    <a:pt x="16508" y="874186"/>
                  </a:lnTo>
                  <a:cubicBezTo>
                    <a:pt x="12130" y="874186"/>
                    <a:pt x="7931" y="872447"/>
                    <a:pt x="4835" y="869351"/>
                  </a:cubicBezTo>
                  <a:cubicBezTo>
                    <a:pt x="1739" y="866255"/>
                    <a:pt x="0" y="862056"/>
                    <a:pt x="0" y="857678"/>
                  </a:cubicBezTo>
                  <a:lnTo>
                    <a:pt x="0" y="16508"/>
                  </a:lnTo>
                  <a:cubicBezTo>
                    <a:pt x="0" y="12130"/>
                    <a:pt x="1739" y="7931"/>
                    <a:pt x="4835" y="4835"/>
                  </a:cubicBezTo>
                  <a:cubicBezTo>
                    <a:pt x="7931" y="1739"/>
                    <a:pt x="12130" y="0"/>
                    <a:pt x="16508" y="0"/>
                  </a:cubicBezTo>
                  <a:close/>
                </a:path>
              </a:pathLst>
            </a:custGeom>
            <a:solidFill>
              <a:srgbClr val="D1FAE5"/>
            </a:solidFill>
          </p:spPr>
        </p:sp>
        <p:sp>
          <p:nvSpPr>
            <p:cNvPr name="TextBox 4" id="4"/>
            <p:cNvSpPr txBox="true"/>
            <p:nvPr/>
          </p:nvSpPr>
          <p:spPr>
            <a:xfrm>
              <a:off x="0" y="-38100"/>
              <a:ext cx="4446725" cy="912286"/>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2201304" y="4235362"/>
            <a:ext cx="1416730" cy="1476669"/>
          </a:xfrm>
          <a:custGeom>
            <a:avLst/>
            <a:gdLst/>
            <a:ahLst/>
            <a:cxnLst/>
            <a:rect r="r" b="b" t="t" l="l"/>
            <a:pathLst>
              <a:path h="1476669" w="1416730">
                <a:moveTo>
                  <a:pt x="0" y="0"/>
                </a:moveTo>
                <a:lnTo>
                  <a:pt x="1416730" y="0"/>
                </a:lnTo>
                <a:lnTo>
                  <a:pt x="1416730" y="1476669"/>
                </a:lnTo>
                <a:lnTo>
                  <a:pt x="0" y="1476669"/>
                </a:lnTo>
                <a:lnTo>
                  <a:pt x="0" y="0"/>
                </a:lnTo>
                <a:close/>
              </a:path>
            </a:pathLst>
          </a:custGeom>
          <a:blipFill>
            <a:blip r:embed="rId2"/>
            <a:stretch>
              <a:fillRect l="0" t="0" r="0" b="0"/>
            </a:stretch>
          </a:blipFill>
        </p:spPr>
      </p:sp>
      <p:sp>
        <p:nvSpPr>
          <p:cNvPr name="Freeform 6" id="6"/>
          <p:cNvSpPr/>
          <p:nvPr/>
        </p:nvSpPr>
        <p:spPr>
          <a:xfrm flipH="false" flipV="false" rot="0">
            <a:off x="6319994" y="4117423"/>
            <a:ext cx="1242943" cy="2002520"/>
          </a:xfrm>
          <a:custGeom>
            <a:avLst/>
            <a:gdLst/>
            <a:ahLst/>
            <a:cxnLst/>
            <a:rect r="r" b="b" t="t" l="l"/>
            <a:pathLst>
              <a:path h="2002520" w="1242943">
                <a:moveTo>
                  <a:pt x="0" y="0"/>
                </a:moveTo>
                <a:lnTo>
                  <a:pt x="1242943" y="0"/>
                </a:lnTo>
                <a:lnTo>
                  <a:pt x="1242943" y="2002520"/>
                </a:lnTo>
                <a:lnTo>
                  <a:pt x="0" y="2002520"/>
                </a:lnTo>
                <a:lnTo>
                  <a:pt x="0" y="0"/>
                </a:lnTo>
                <a:close/>
              </a:path>
            </a:pathLst>
          </a:custGeom>
          <a:blipFill>
            <a:blip r:embed="rId3"/>
            <a:stretch>
              <a:fillRect l="0" t="0" r="0" b="0"/>
            </a:stretch>
          </a:blipFill>
        </p:spPr>
      </p:sp>
      <p:sp>
        <p:nvSpPr>
          <p:cNvPr name="Freeform 7" id="7"/>
          <p:cNvSpPr/>
          <p:nvPr/>
        </p:nvSpPr>
        <p:spPr>
          <a:xfrm flipH="false" flipV="false" rot="0">
            <a:off x="10222022" y="4305652"/>
            <a:ext cx="1541924" cy="1559794"/>
          </a:xfrm>
          <a:custGeom>
            <a:avLst/>
            <a:gdLst/>
            <a:ahLst/>
            <a:cxnLst/>
            <a:rect r="r" b="b" t="t" l="l"/>
            <a:pathLst>
              <a:path h="1559794" w="1541924">
                <a:moveTo>
                  <a:pt x="0" y="0"/>
                </a:moveTo>
                <a:lnTo>
                  <a:pt x="1541924" y="0"/>
                </a:lnTo>
                <a:lnTo>
                  <a:pt x="1541924" y="1559795"/>
                </a:lnTo>
                <a:lnTo>
                  <a:pt x="0" y="1559795"/>
                </a:lnTo>
                <a:lnTo>
                  <a:pt x="0" y="0"/>
                </a:lnTo>
                <a:close/>
              </a:path>
            </a:pathLst>
          </a:custGeom>
          <a:blipFill>
            <a:blip r:embed="rId4"/>
            <a:stretch>
              <a:fillRect l="0" t="0" r="0" b="0"/>
            </a:stretch>
          </a:blipFill>
        </p:spPr>
      </p:sp>
      <p:sp>
        <p:nvSpPr>
          <p:cNvPr name="Freeform 8" id="8"/>
          <p:cNvSpPr/>
          <p:nvPr/>
        </p:nvSpPr>
        <p:spPr>
          <a:xfrm flipH="false" flipV="false" rot="0">
            <a:off x="14728657" y="3905663"/>
            <a:ext cx="1086857" cy="2712898"/>
          </a:xfrm>
          <a:custGeom>
            <a:avLst/>
            <a:gdLst/>
            <a:ahLst/>
            <a:cxnLst/>
            <a:rect r="r" b="b" t="t" l="l"/>
            <a:pathLst>
              <a:path h="2712898" w="1086857">
                <a:moveTo>
                  <a:pt x="0" y="0"/>
                </a:moveTo>
                <a:lnTo>
                  <a:pt x="1086857" y="0"/>
                </a:lnTo>
                <a:lnTo>
                  <a:pt x="1086857" y="2712898"/>
                </a:lnTo>
                <a:lnTo>
                  <a:pt x="0" y="2712898"/>
                </a:lnTo>
                <a:lnTo>
                  <a:pt x="0" y="0"/>
                </a:lnTo>
                <a:close/>
              </a:path>
            </a:pathLst>
          </a:custGeom>
          <a:blipFill>
            <a:blip r:embed="rId5"/>
            <a:stretch>
              <a:fillRect l="0" t="0" r="0" b="0"/>
            </a:stretch>
          </a:blipFill>
        </p:spPr>
      </p:sp>
      <p:sp>
        <p:nvSpPr>
          <p:cNvPr name="Freeform 9" id="9"/>
          <p:cNvSpPr/>
          <p:nvPr/>
        </p:nvSpPr>
        <p:spPr>
          <a:xfrm flipH="false" flipV="false" rot="0">
            <a:off x="13233021" y="1028700"/>
            <a:ext cx="4026279" cy="1310371"/>
          </a:xfrm>
          <a:custGeom>
            <a:avLst/>
            <a:gdLst/>
            <a:ahLst/>
            <a:cxnLst/>
            <a:rect r="r" b="b" t="t" l="l"/>
            <a:pathLst>
              <a:path h="1310371" w="4026279">
                <a:moveTo>
                  <a:pt x="0" y="0"/>
                </a:moveTo>
                <a:lnTo>
                  <a:pt x="4026279" y="0"/>
                </a:lnTo>
                <a:lnTo>
                  <a:pt x="4026279" y="1310371"/>
                </a:lnTo>
                <a:lnTo>
                  <a:pt x="0" y="13103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1028700" y="847725"/>
            <a:ext cx="8312264" cy="1666022"/>
          </a:xfrm>
          <a:prstGeom prst="rect">
            <a:avLst/>
          </a:prstGeom>
        </p:spPr>
        <p:txBody>
          <a:bodyPr anchor="t" rtlCol="false" tIns="0" lIns="0" bIns="0" rIns="0">
            <a:spAutoFit/>
          </a:bodyPr>
          <a:lstStyle/>
          <a:p>
            <a:pPr algn="l" marL="0" indent="0" lvl="0">
              <a:lnSpc>
                <a:spcPts val="13697"/>
              </a:lnSpc>
            </a:pPr>
            <a:r>
              <a:rPr lang="en-US" b="true" sz="9783">
                <a:solidFill>
                  <a:srgbClr val="1F1F1F"/>
                </a:solidFill>
                <a:latin typeface="Montserrat Bold"/>
                <a:ea typeface="Montserrat Bold"/>
                <a:cs typeface="Montserrat Bold"/>
                <a:sym typeface="Montserrat Bold"/>
              </a:rPr>
              <a:t>Key Benefits</a:t>
            </a:r>
          </a:p>
        </p:txBody>
      </p:sp>
      <p:sp>
        <p:nvSpPr>
          <p:cNvPr name="TextBox 11" id="11"/>
          <p:cNvSpPr txBox="true"/>
          <p:nvPr/>
        </p:nvSpPr>
        <p:spPr>
          <a:xfrm rot="0">
            <a:off x="1226969" y="6338364"/>
            <a:ext cx="3733319" cy="412750"/>
          </a:xfrm>
          <a:prstGeom prst="rect">
            <a:avLst/>
          </a:prstGeom>
        </p:spPr>
        <p:txBody>
          <a:bodyPr anchor="t" rtlCol="false" tIns="0" lIns="0" bIns="0" rIns="0">
            <a:spAutoFit/>
          </a:bodyPr>
          <a:lstStyle/>
          <a:p>
            <a:pPr algn="ctr" marL="0" indent="0" lvl="0">
              <a:lnSpc>
                <a:spcPts val="3499"/>
              </a:lnSpc>
              <a:spcBef>
                <a:spcPct val="0"/>
              </a:spcBef>
            </a:pPr>
            <a:r>
              <a:rPr lang="en-US" b="true" sz="2499">
                <a:solidFill>
                  <a:srgbClr val="6B7280"/>
                </a:solidFill>
                <a:latin typeface="Inter Bold"/>
                <a:ea typeface="Inter Bold"/>
                <a:cs typeface="Inter Bold"/>
                <a:sym typeface="Inter Bold"/>
              </a:rPr>
              <a:t>Predictive Maintenance</a:t>
            </a:r>
          </a:p>
        </p:txBody>
      </p:sp>
      <p:sp>
        <p:nvSpPr>
          <p:cNvPr name="TextBox 12" id="12"/>
          <p:cNvSpPr txBox="true"/>
          <p:nvPr/>
        </p:nvSpPr>
        <p:spPr>
          <a:xfrm rot="0">
            <a:off x="5433373" y="6338364"/>
            <a:ext cx="3064118" cy="412750"/>
          </a:xfrm>
          <a:prstGeom prst="rect">
            <a:avLst/>
          </a:prstGeom>
        </p:spPr>
        <p:txBody>
          <a:bodyPr anchor="t" rtlCol="false" tIns="0" lIns="0" bIns="0" rIns="0">
            <a:spAutoFit/>
          </a:bodyPr>
          <a:lstStyle/>
          <a:p>
            <a:pPr algn="ctr" marL="0" indent="0" lvl="0">
              <a:lnSpc>
                <a:spcPts val="3499"/>
              </a:lnSpc>
              <a:spcBef>
                <a:spcPct val="0"/>
              </a:spcBef>
            </a:pPr>
            <a:r>
              <a:rPr lang="en-US" b="true" sz="2499">
                <a:solidFill>
                  <a:srgbClr val="6B7280"/>
                </a:solidFill>
                <a:latin typeface="Inter Bold"/>
                <a:ea typeface="Inter Bold"/>
                <a:cs typeface="Inter Bold"/>
                <a:sym typeface="Inter Bold"/>
              </a:rPr>
              <a:t>Energy Efficiency</a:t>
            </a:r>
          </a:p>
        </p:txBody>
      </p:sp>
      <p:sp>
        <p:nvSpPr>
          <p:cNvPr name="TextBox 13" id="13"/>
          <p:cNvSpPr txBox="true"/>
          <p:nvPr/>
        </p:nvSpPr>
        <p:spPr>
          <a:xfrm rot="0">
            <a:off x="9340964" y="6338364"/>
            <a:ext cx="3241326" cy="412750"/>
          </a:xfrm>
          <a:prstGeom prst="rect">
            <a:avLst/>
          </a:prstGeom>
        </p:spPr>
        <p:txBody>
          <a:bodyPr anchor="t" rtlCol="false" tIns="0" lIns="0" bIns="0" rIns="0">
            <a:spAutoFit/>
          </a:bodyPr>
          <a:lstStyle/>
          <a:p>
            <a:pPr algn="ctr" marL="0" indent="0" lvl="0">
              <a:lnSpc>
                <a:spcPts val="3499"/>
              </a:lnSpc>
              <a:spcBef>
                <a:spcPct val="0"/>
              </a:spcBef>
            </a:pPr>
            <a:r>
              <a:rPr lang="en-US" b="true" sz="2499">
                <a:solidFill>
                  <a:srgbClr val="6B7280"/>
                </a:solidFill>
                <a:latin typeface="Inter Bold"/>
                <a:ea typeface="Inter Bold"/>
                <a:cs typeface="Inter Bold"/>
                <a:sym typeface="Inter Bold"/>
              </a:rPr>
              <a:t>Quality Control</a:t>
            </a:r>
          </a:p>
        </p:txBody>
      </p:sp>
      <p:sp>
        <p:nvSpPr>
          <p:cNvPr name="TextBox 14" id="14"/>
          <p:cNvSpPr txBox="true"/>
          <p:nvPr/>
        </p:nvSpPr>
        <p:spPr>
          <a:xfrm rot="0">
            <a:off x="13852511" y="6338364"/>
            <a:ext cx="2880989" cy="412750"/>
          </a:xfrm>
          <a:prstGeom prst="rect">
            <a:avLst/>
          </a:prstGeom>
        </p:spPr>
        <p:txBody>
          <a:bodyPr anchor="t" rtlCol="false" tIns="0" lIns="0" bIns="0" rIns="0">
            <a:spAutoFit/>
          </a:bodyPr>
          <a:lstStyle/>
          <a:p>
            <a:pPr algn="ctr" marL="0" indent="0" lvl="0">
              <a:lnSpc>
                <a:spcPts val="3499"/>
              </a:lnSpc>
              <a:spcBef>
                <a:spcPct val="0"/>
              </a:spcBef>
            </a:pPr>
            <a:r>
              <a:rPr lang="en-US" b="true" sz="2499">
                <a:solidFill>
                  <a:srgbClr val="6B7280"/>
                </a:solidFill>
                <a:latin typeface="Inter Bold"/>
                <a:ea typeface="Inter Bold"/>
                <a:cs typeface="Inter Bold"/>
                <a:sym typeface="Inter Bold"/>
              </a:rPr>
              <a:t>Cost Reduction</a:t>
            </a:r>
          </a:p>
        </p:txBody>
      </p:sp>
      <p:sp>
        <p:nvSpPr>
          <p:cNvPr name="TextBox 15" id="15"/>
          <p:cNvSpPr txBox="true"/>
          <p:nvPr/>
        </p:nvSpPr>
        <p:spPr>
          <a:xfrm rot="0">
            <a:off x="1226969" y="7460423"/>
            <a:ext cx="3465149" cy="962149"/>
          </a:xfrm>
          <a:prstGeom prst="rect">
            <a:avLst/>
          </a:prstGeom>
        </p:spPr>
        <p:txBody>
          <a:bodyPr anchor="t" rtlCol="false" tIns="0" lIns="0" bIns="0" rIns="0">
            <a:spAutoFit/>
          </a:bodyPr>
          <a:lstStyle/>
          <a:p>
            <a:pPr algn="ctr" marL="0" indent="0" lvl="0">
              <a:lnSpc>
                <a:spcPts val="2618"/>
              </a:lnSpc>
              <a:spcBef>
                <a:spcPct val="0"/>
              </a:spcBef>
            </a:pPr>
            <a:r>
              <a:rPr lang="en-US" sz="1870">
                <a:solidFill>
                  <a:srgbClr val="6B7280"/>
                </a:solidFill>
                <a:latin typeface="Inter"/>
                <a:ea typeface="Inter"/>
                <a:cs typeface="Inter"/>
                <a:sym typeface="Inter"/>
              </a:rPr>
              <a:t>Reduce downtime by detecting equipment failures before they occur.</a:t>
            </a:r>
          </a:p>
        </p:txBody>
      </p:sp>
      <p:sp>
        <p:nvSpPr>
          <p:cNvPr name="TextBox 16" id="16"/>
          <p:cNvSpPr txBox="true"/>
          <p:nvPr/>
        </p:nvSpPr>
        <p:spPr>
          <a:xfrm rot="0">
            <a:off x="5433373" y="7460423"/>
            <a:ext cx="3064118" cy="962149"/>
          </a:xfrm>
          <a:prstGeom prst="rect">
            <a:avLst/>
          </a:prstGeom>
        </p:spPr>
        <p:txBody>
          <a:bodyPr anchor="t" rtlCol="false" tIns="0" lIns="0" bIns="0" rIns="0">
            <a:spAutoFit/>
          </a:bodyPr>
          <a:lstStyle/>
          <a:p>
            <a:pPr algn="ctr" marL="0" indent="0" lvl="0">
              <a:lnSpc>
                <a:spcPts val="2618"/>
              </a:lnSpc>
              <a:spcBef>
                <a:spcPct val="0"/>
              </a:spcBef>
            </a:pPr>
            <a:r>
              <a:rPr lang="en-US" sz="1870">
                <a:solidFill>
                  <a:srgbClr val="6B7280"/>
                </a:solidFill>
                <a:latin typeface="Inter"/>
                <a:ea typeface="Inter"/>
                <a:cs typeface="Inter"/>
                <a:sym typeface="Inter"/>
              </a:rPr>
              <a:t>Optimize power consumption through smart monitoring and automation.</a:t>
            </a:r>
          </a:p>
        </p:txBody>
      </p:sp>
      <p:sp>
        <p:nvSpPr>
          <p:cNvPr name="TextBox 17" id="17"/>
          <p:cNvSpPr txBox="true"/>
          <p:nvPr/>
        </p:nvSpPr>
        <p:spPr>
          <a:xfrm rot="0">
            <a:off x="9635353" y="7460423"/>
            <a:ext cx="2652548" cy="962149"/>
          </a:xfrm>
          <a:prstGeom prst="rect">
            <a:avLst/>
          </a:prstGeom>
        </p:spPr>
        <p:txBody>
          <a:bodyPr anchor="t" rtlCol="false" tIns="0" lIns="0" bIns="0" rIns="0">
            <a:spAutoFit/>
          </a:bodyPr>
          <a:lstStyle/>
          <a:p>
            <a:pPr algn="ctr" marL="0" indent="0" lvl="0">
              <a:lnSpc>
                <a:spcPts val="2618"/>
              </a:lnSpc>
              <a:spcBef>
                <a:spcPct val="0"/>
              </a:spcBef>
            </a:pPr>
            <a:r>
              <a:rPr lang="en-US" sz="1870">
                <a:solidFill>
                  <a:srgbClr val="6B7280"/>
                </a:solidFill>
                <a:latin typeface="Inter"/>
                <a:ea typeface="Inter"/>
                <a:cs typeface="Inter"/>
                <a:sym typeface="Inter"/>
              </a:rPr>
              <a:t>Real-time monitoring ensures consistent product standards.</a:t>
            </a:r>
          </a:p>
        </p:txBody>
      </p:sp>
      <p:sp>
        <p:nvSpPr>
          <p:cNvPr name="TextBox 18" id="18"/>
          <p:cNvSpPr txBox="true"/>
          <p:nvPr/>
        </p:nvSpPr>
        <p:spPr>
          <a:xfrm rot="0">
            <a:off x="13966731" y="7460423"/>
            <a:ext cx="2652548" cy="962149"/>
          </a:xfrm>
          <a:prstGeom prst="rect">
            <a:avLst/>
          </a:prstGeom>
        </p:spPr>
        <p:txBody>
          <a:bodyPr anchor="t" rtlCol="false" tIns="0" lIns="0" bIns="0" rIns="0">
            <a:spAutoFit/>
          </a:bodyPr>
          <a:lstStyle/>
          <a:p>
            <a:pPr algn="ctr" marL="0" indent="0" lvl="0">
              <a:lnSpc>
                <a:spcPts val="2618"/>
              </a:lnSpc>
              <a:spcBef>
                <a:spcPct val="0"/>
              </a:spcBef>
            </a:pPr>
            <a:r>
              <a:rPr lang="en-US" sz="1870">
                <a:solidFill>
                  <a:srgbClr val="6B7280"/>
                </a:solidFill>
                <a:latin typeface="Inter"/>
                <a:ea typeface="Inter"/>
                <a:cs typeface="Inter"/>
                <a:sym typeface="Inter"/>
              </a:rPr>
              <a:t>Lower operational expenses through process optimization.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11947402" y="1578816"/>
            <a:ext cx="5311898" cy="7679484"/>
            <a:chOff x="0" y="0"/>
            <a:chExt cx="1399019" cy="2022580"/>
          </a:xfrm>
        </p:grpSpPr>
        <p:sp>
          <p:nvSpPr>
            <p:cNvPr name="Freeform 3" id="3"/>
            <p:cNvSpPr/>
            <p:nvPr/>
          </p:nvSpPr>
          <p:spPr>
            <a:xfrm flipH="false" flipV="false" rot="0">
              <a:off x="0" y="0"/>
              <a:ext cx="1399018" cy="2022580"/>
            </a:xfrm>
            <a:custGeom>
              <a:avLst/>
              <a:gdLst/>
              <a:ahLst/>
              <a:cxnLst/>
              <a:rect r="r" b="b" t="t" l="l"/>
              <a:pathLst>
                <a:path h="2022580" w="1399018">
                  <a:moveTo>
                    <a:pt x="52469" y="0"/>
                  </a:moveTo>
                  <a:lnTo>
                    <a:pt x="1346550" y="0"/>
                  </a:lnTo>
                  <a:cubicBezTo>
                    <a:pt x="1360465" y="0"/>
                    <a:pt x="1373811" y="5528"/>
                    <a:pt x="1383651" y="15368"/>
                  </a:cubicBezTo>
                  <a:cubicBezTo>
                    <a:pt x="1393491" y="25208"/>
                    <a:pt x="1399018" y="38553"/>
                    <a:pt x="1399018" y="52469"/>
                  </a:cubicBezTo>
                  <a:lnTo>
                    <a:pt x="1399018" y="1970111"/>
                  </a:lnTo>
                  <a:cubicBezTo>
                    <a:pt x="1399018" y="1984027"/>
                    <a:pt x="1393491" y="1997372"/>
                    <a:pt x="1383651" y="2007212"/>
                  </a:cubicBezTo>
                  <a:cubicBezTo>
                    <a:pt x="1373811" y="2017052"/>
                    <a:pt x="1360465" y="2022580"/>
                    <a:pt x="1346550" y="2022580"/>
                  </a:cubicBezTo>
                  <a:lnTo>
                    <a:pt x="52469" y="2022580"/>
                  </a:lnTo>
                  <a:cubicBezTo>
                    <a:pt x="38553" y="2022580"/>
                    <a:pt x="25208" y="2017052"/>
                    <a:pt x="15368" y="2007212"/>
                  </a:cubicBezTo>
                  <a:cubicBezTo>
                    <a:pt x="5528" y="1997372"/>
                    <a:pt x="0" y="1984027"/>
                    <a:pt x="0" y="1970111"/>
                  </a:cubicBezTo>
                  <a:lnTo>
                    <a:pt x="0" y="52469"/>
                  </a:lnTo>
                  <a:cubicBezTo>
                    <a:pt x="0" y="38553"/>
                    <a:pt x="5528" y="25208"/>
                    <a:pt x="15368" y="15368"/>
                  </a:cubicBezTo>
                  <a:cubicBezTo>
                    <a:pt x="25208" y="5528"/>
                    <a:pt x="38553" y="0"/>
                    <a:pt x="52469" y="0"/>
                  </a:cubicBezTo>
                  <a:close/>
                </a:path>
              </a:pathLst>
            </a:custGeom>
            <a:solidFill>
              <a:srgbClr val="D1FAE5"/>
            </a:solidFill>
          </p:spPr>
        </p:sp>
        <p:sp>
          <p:nvSpPr>
            <p:cNvPr name="TextBox 4" id="4"/>
            <p:cNvSpPr txBox="true"/>
            <p:nvPr/>
          </p:nvSpPr>
          <p:spPr>
            <a:xfrm>
              <a:off x="0" y="-38100"/>
              <a:ext cx="1399019" cy="2060680"/>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10478906" y="2002918"/>
            <a:ext cx="1077278" cy="1107539"/>
          </a:xfrm>
          <a:custGeom>
            <a:avLst/>
            <a:gdLst/>
            <a:ahLst/>
            <a:cxnLst/>
            <a:rect r="r" b="b" t="t" l="l"/>
            <a:pathLst>
              <a:path h="1107539" w="1077278">
                <a:moveTo>
                  <a:pt x="0" y="0"/>
                </a:moveTo>
                <a:lnTo>
                  <a:pt x="1077279" y="0"/>
                </a:lnTo>
                <a:lnTo>
                  <a:pt x="1077279" y="1107539"/>
                </a:lnTo>
                <a:lnTo>
                  <a:pt x="0" y="1107539"/>
                </a:lnTo>
                <a:lnTo>
                  <a:pt x="0" y="0"/>
                </a:lnTo>
                <a:close/>
              </a:path>
            </a:pathLst>
          </a:custGeom>
          <a:blipFill>
            <a:blip r:embed="rId2"/>
            <a:stretch>
              <a:fillRect l="0" t="0" r="0" b="0"/>
            </a:stretch>
          </a:blipFill>
        </p:spPr>
      </p:sp>
      <p:sp>
        <p:nvSpPr>
          <p:cNvPr name="Freeform 6" id="6"/>
          <p:cNvSpPr/>
          <p:nvPr/>
        </p:nvSpPr>
        <p:spPr>
          <a:xfrm flipH="false" flipV="false" rot="0">
            <a:off x="10317411" y="3603969"/>
            <a:ext cx="1716210" cy="1438820"/>
          </a:xfrm>
          <a:custGeom>
            <a:avLst/>
            <a:gdLst/>
            <a:ahLst/>
            <a:cxnLst/>
            <a:rect r="r" b="b" t="t" l="l"/>
            <a:pathLst>
              <a:path h="1438820" w="1716210">
                <a:moveTo>
                  <a:pt x="0" y="0"/>
                </a:moveTo>
                <a:lnTo>
                  <a:pt x="1716210" y="0"/>
                </a:lnTo>
                <a:lnTo>
                  <a:pt x="1716210" y="1438820"/>
                </a:lnTo>
                <a:lnTo>
                  <a:pt x="0" y="1438820"/>
                </a:lnTo>
                <a:lnTo>
                  <a:pt x="0" y="0"/>
                </a:lnTo>
                <a:close/>
              </a:path>
            </a:pathLst>
          </a:custGeom>
          <a:blipFill>
            <a:blip r:embed="rId3"/>
            <a:stretch>
              <a:fillRect l="0" t="0" r="0" b="0"/>
            </a:stretch>
          </a:blipFill>
        </p:spPr>
      </p:sp>
      <p:sp>
        <p:nvSpPr>
          <p:cNvPr name="Freeform 7" id="7"/>
          <p:cNvSpPr/>
          <p:nvPr/>
        </p:nvSpPr>
        <p:spPr>
          <a:xfrm flipH="false" flipV="false" rot="0">
            <a:off x="10762374" y="5820566"/>
            <a:ext cx="753551" cy="1188292"/>
          </a:xfrm>
          <a:custGeom>
            <a:avLst/>
            <a:gdLst/>
            <a:ahLst/>
            <a:cxnLst/>
            <a:rect r="r" b="b" t="t" l="l"/>
            <a:pathLst>
              <a:path h="1188292" w="753551">
                <a:moveTo>
                  <a:pt x="0" y="0"/>
                </a:moveTo>
                <a:lnTo>
                  <a:pt x="753550" y="0"/>
                </a:lnTo>
                <a:lnTo>
                  <a:pt x="753550" y="1188292"/>
                </a:lnTo>
                <a:lnTo>
                  <a:pt x="0" y="1188292"/>
                </a:lnTo>
                <a:lnTo>
                  <a:pt x="0" y="0"/>
                </a:lnTo>
                <a:close/>
              </a:path>
            </a:pathLst>
          </a:custGeom>
          <a:blipFill>
            <a:blip r:embed="rId4"/>
            <a:stretch>
              <a:fillRect l="0" t="0" r="0" b="0"/>
            </a:stretch>
          </a:blipFill>
        </p:spPr>
      </p:sp>
      <p:sp>
        <p:nvSpPr>
          <p:cNvPr name="Freeform 8" id="8"/>
          <p:cNvSpPr/>
          <p:nvPr/>
        </p:nvSpPr>
        <p:spPr>
          <a:xfrm flipH="false" flipV="false" rot="0">
            <a:off x="10514232" y="7872547"/>
            <a:ext cx="1278470" cy="748142"/>
          </a:xfrm>
          <a:custGeom>
            <a:avLst/>
            <a:gdLst/>
            <a:ahLst/>
            <a:cxnLst/>
            <a:rect r="r" b="b" t="t" l="l"/>
            <a:pathLst>
              <a:path h="748142" w="1278470">
                <a:moveTo>
                  <a:pt x="0" y="0"/>
                </a:moveTo>
                <a:lnTo>
                  <a:pt x="1278470" y="0"/>
                </a:lnTo>
                <a:lnTo>
                  <a:pt x="1278470" y="748141"/>
                </a:lnTo>
                <a:lnTo>
                  <a:pt x="0" y="748141"/>
                </a:lnTo>
                <a:lnTo>
                  <a:pt x="0" y="0"/>
                </a:lnTo>
                <a:close/>
              </a:path>
            </a:pathLst>
          </a:custGeom>
          <a:blipFill>
            <a:blip r:embed="rId5"/>
            <a:stretch>
              <a:fillRect l="0" t="0" r="0" b="0"/>
            </a:stretch>
          </a:blipFill>
        </p:spPr>
      </p:sp>
      <p:sp>
        <p:nvSpPr>
          <p:cNvPr name="Freeform 9" id="9"/>
          <p:cNvSpPr/>
          <p:nvPr/>
        </p:nvSpPr>
        <p:spPr>
          <a:xfrm flipH="false" flipV="false" rot="0">
            <a:off x="339977" y="5569583"/>
            <a:ext cx="5778408" cy="3423707"/>
          </a:xfrm>
          <a:custGeom>
            <a:avLst/>
            <a:gdLst/>
            <a:ahLst/>
            <a:cxnLst/>
            <a:rect r="r" b="b" t="t" l="l"/>
            <a:pathLst>
              <a:path h="3423707" w="5778408">
                <a:moveTo>
                  <a:pt x="0" y="0"/>
                </a:moveTo>
                <a:lnTo>
                  <a:pt x="5778409" y="0"/>
                </a:lnTo>
                <a:lnTo>
                  <a:pt x="5778409" y="3423707"/>
                </a:lnTo>
                <a:lnTo>
                  <a:pt x="0" y="3423707"/>
                </a:lnTo>
                <a:lnTo>
                  <a:pt x="0" y="0"/>
                </a:lnTo>
                <a:close/>
              </a:path>
            </a:pathLst>
          </a:custGeom>
          <a:blipFill>
            <a:blip r:embed="rId6"/>
            <a:stretch>
              <a:fillRect l="0" t="0" r="0" b="0"/>
            </a:stretch>
          </a:blipFill>
        </p:spPr>
      </p:sp>
      <p:sp>
        <p:nvSpPr>
          <p:cNvPr name="TextBox 10" id="10"/>
          <p:cNvSpPr txBox="true"/>
          <p:nvPr/>
        </p:nvSpPr>
        <p:spPr>
          <a:xfrm rot="0">
            <a:off x="1028700" y="847725"/>
            <a:ext cx="8312264" cy="1633240"/>
          </a:xfrm>
          <a:prstGeom prst="rect">
            <a:avLst/>
          </a:prstGeom>
        </p:spPr>
        <p:txBody>
          <a:bodyPr anchor="t" rtlCol="false" tIns="0" lIns="0" bIns="0" rIns="0">
            <a:spAutoFit/>
          </a:bodyPr>
          <a:lstStyle/>
          <a:p>
            <a:pPr algn="l" marL="0" indent="0" lvl="0">
              <a:lnSpc>
                <a:spcPts val="13403"/>
              </a:lnSpc>
            </a:pPr>
            <a:r>
              <a:rPr lang="en-US" b="true" sz="9574">
                <a:solidFill>
                  <a:srgbClr val="1F1F1F"/>
                </a:solidFill>
                <a:latin typeface="Montserrat Bold"/>
                <a:ea typeface="Montserrat Bold"/>
                <a:cs typeface="Montserrat Bold"/>
                <a:sym typeface="Montserrat Bold"/>
              </a:rPr>
              <a:t>Industrial IoT</a:t>
            </a:r>
          </a:p>
        </p:txBody>
      </p:sp>
      <p:sp>
        <p:nvSpPr>
          <p:cNvPr name="TextBox 11" id="11"/>
          <p:cNvSpPr txBox="true"/>
          <p:nvPr/>
        </p:nvSpPr>
        <p:spPr>
          <a:xfrm rot="0">
            <a:off x="1411059" y="2013010"/>
            <a:ext cx="8492523" cy="1633240"/>
          </a:xfrm>
          <a:prstGeom prst="rect">
            <a:avLst/>
          </a:prstGeom>
        </p:spPr>
        <p:txBody>
          <a:bodyPr anchor="t" rtlCol="false" tIns="0" lIns="0" bIns="0" rIns="0">
            <a:spAutoFit/>
          </a:bodyPr>
          <a:lstStyle/>
          <a:p>
            <a:pPr algn="l" marL="0" indent="0" lvl="0">
              <a:lnSpc>
                <a:spcPts val="13403"/>
              </a:lnSpc>
            </a:pPr>
            <a:r>
              <a:rPr lang="en-US" b="true" sz="9574">
                <a:solidFill>
                  <a:srgbClr val="10B981"/>
                </a:solidFill>
                <a:latin typeface="Montserrat Bold"/>
                <a:ea typeface="Montserrat Bold"/>
                <a:cs typeface="Montserrat Bold"/>
                <a:sym typeface="Montserrat Bold"/>
              </a:rPr>
              <a:t>Applications</a:t>
            </a:r>
          </a:p>
        </p:txBody>
      </p:sp>
      <p:sp>
        <p:nvSpPr>
          <p:cNvPr name="TextBox 12" id="12"/>
          <p:cNvSpPr txBox="true"/>
          <p:nvPr/>
        </p:nvSpPr>
        <p:spPr>
          <a:xfrm rot="0">
            <a:off x="12376936" y="2029726"/>
            <a:ext cx="3733319" cy="412795"/>
          </a:xfrm>
          <a:prstGeom prst="rect">
            <a:avLst/>
          </a:prstGeom>
        </p:spPr>
        <p:txBody>
          <a:bodyPr anchor="t" rtlCol="false" tIns="0" lIns="0" bIns="0" rIns="0">
            <a:spAutoFit/>
          </a:bodyPr>
          <a:lstStyle/>
          <a:p>
            <a:pPr algn="just" marL="0" indent="0" lvl="0">
              <a:lnSpc>
                <a:spcPts val="3497"/>
              </a:lnSpc>
              <a:spcBef>
                <a:spcPct val="0"/>
              </a:spcBef>
            </a:pPr>
            <a:r>
              <a:rPr lang="en-US" b="true" sz="2498">
                <a:solidFill>
                  <a:srgbClr val="6B7280"/>
                </a:solidFill>
                <a:latin typeface="Inter Bold"/>
                <a:ea typeface="Inter Bold"/>
                <a:cs typeface="Inter Bold"/>
                <a:sym typeface="Inter Bold"/>
              </a:rPr>
              <a:t>Manufacturing</a:t>
            </a:r>
          </a:p>
        </p:txBody>
      </p:sp>
      <p:sp>
        <p:nvSpPr>
          <p:cNvPr name="TextBox 13" id="13"/>
          <p:cNvSpPr txBox="true"/>
          <p:nvPr/>
        </p:nvSpPr>
        <p:spPr>
          <a:xfrm rot="0">
            <a:off x="12376936" y="3799665"/>
            <a:ext cx="3733319" cy="412795"/>
          </a:xfrm>
          <a:prstGeom prst="rect">
            <a:avLst/>
          </a:prstGeom>
        </p:spPr>
        <p:txBody>
          <a:bodyPr anchor="t" rtlCol="false" tIns="0" lIns="0" bIns="0" rIns="0">
            <a:spAutoFit/>
          </a:bodyPr>
          <a:lstStyle/>
          <a:p>
            <a:pPr algn="just" marL="0" indent="0" lvl="0">
              <a:lnSpc>
                <a:spcPts val="3497"/>
              </a:lnSpc>
              <a:spcBef>
                <a:spcPct val="0"/>
              </a:spcBef>
            </a:pPr>
            <a:r>
              <a:rPr lang="en-US" b="true" sz="2498">
                <a:solidFill>
                  <a:srgbClr val="6B7280"/>
                </a:solidFill>
                <a:latin typeface="Inter Bold"/>
                <a:ea typeface="Inter Bold"/>
                <a:cs typeface="Inter Bold"/>
                <a:sym typeface="Inter Bold"/>
              </a:rPr>
              <a:t>Oil &amp; Gas</a:t>
            </a:r>
          </a:p>
        </p:txBody>
      </p:sp>
      <p:sp>
        <p:nvSpPr>
          <p:cNvPr name="TextBox 14" id="14"/>
          <p:cNvSpPr txBox="true"/>
          <p:nvPr/>
        </p:nvSpPr>
        <p:spPr>
          <a:xfrm rot="0">
            <a:off x="12376936" y="5571316"/>
            <a:ext cx="3733319" cy="412795"/>
          </a:xfrm>
          <a:prstGeom prst="rect">
            <a:avLst/>
          </a:prstGeom>
        </p:spPr>
        <p:txBody>
          <a:bodyPr anchor="t" rtlCol="false" tIns="0" lIns="0" bIns="0" rIns="0">
            <a:spAutoFit/>
          </a:bodyPr>
          <a:lstStyle/>
          <a:p>
            <a:pPr algn="just" marL="0" indent="0" lvl="0">
              <a:lnSpc>
                <a:spcPts val="3497"/>
              </a:lnSpc>
              <a:spcBef>
                <a:spcPct val="0"/>
              </a:spcBef>
            </a:pPr>
            <a:r>
              <a:rPr lang="en-US" b="true" sz="2498">
                <a:solidFill>
                  <a:srgbClr val="6B7280"/>
                </a:solidFill>
                <a:latin typeface="Inter Bold"/>
                <a:ea typeface="Inter Bold"/>
                <a:cs typeface="Inter Bold"/>
                <a:sym typeface="Inter Bold"/>
              </a:rPr>
              <a:t>Utilities</a:t>
            </a:r>
          </a:p>
        </p:txBody>
      </p:sp>
      <p:sp>
        <p:nvSpPr>
          <p:cNvPr name="TextBox 15" id="15"/>
          <p:cNvSpPr txBox="true"/>
          <p:nvPr/>
        </p:nvSpPr>
        <p:spPr>
          <a:xfrm rot="0">
            <a:off x="12376936" y="7342966"/>
            <a:ext cx="3733319" cy="412795"/>
          </a:xfrm>
          <a:prstGeom prst="rect">
            <a:avLst/>
          </a:prstGeom>
        </p:spPr>
        <p:txBody>
          <a:bodyPr anchor="t" rtlCol="false" tIns="0" lIns="0" bIns="0" rIns="0">
            <a:spAutoFit/>
          </a:bodyPr>
          <a:lstStyle/>
          <a:p>
            <a:pPr algn="just" marL="0" indent="0" lvl="0">
              <a:lnSpc>
                <a:spcPts val="3497"/>
              </a:lnSpc>
              <a:spcBef>
                <a:spcPct val="0"/>
              </a:spcBef>
            </a:pPr>
            <a:r>
              <a:rPr lang="en-US" b="true" sz="2498">
                <a:solidFill>
                  <a:srgbClr val="6B7280"/>
                </a:solidFill>
                <a:latin typeface="Inter Bold"/>
                <a:ea typeface="Inter Bold"/>
                <a:cs typeface="Inter Bold"/>
                <a:sym typeface="Inter Bold"/>
              </a:rPr>
              <a:t>Logistics</a:t>
            </a:r>
          </a:p>
        </p:txBody>
      </p:sp>
      <p:sp>
        <p:nvSpPr>
          <p:cNvPr name="TextBox 16" id="16"/>
          <p:cNvSpPr txBox="true"/>
          <p:nvPr/>
        </p:nvSpPr>
        <p:spPr>
          <a:xfrm rot="0">
            <a:off x="12376936" y="2569477"/>
            <a:ext cx="4147352" cy="639296"/>
          </a:xfrm>
          <a:prstGeom prst="rect">
            <a:avLst/>
          </a:prstGeom>
        </p:spPr>
        <p:txBody>
          <a:bodyPr anchor="t" rtlCol="false" tIns="0" lIns="0" bIns="0" rIns="0">
            <a:spAutoFit/>
          </a:bodyPr>
          <a:lstStyle/>
          <a:p>
            <a:pPr algn="l" marL="0" indent="0" lvl="0">
              <a:lnSpc>
                <a:spcPts val="2563"/>
              </a:lnSpc>
              <a:spcBef>
                <a:spcPct val="0"/>
              </a:spcBef>
            </a:pPr>
            <a:r>
              <a:rPr lang="en-US" sz="1830">
                <a:solidFill>
                  <a:srgbClr val="6B7280"/>
                </a:solidFill>
                <a:latin typeface="Inter"/>
                <a:ea typeface="Inter"/>
                <a:cs typeface="Inter"/>
                <a:sym typeface="Inter"/>
              </a:rPr>
              <a:t>Smart factories with automated production lines and quality control.</a:t>
            </a:r>
          </a:p>
        </p:txBody>
      </p:sp>
      <p:sp>
        <p:nvSpPr>
          <p:cNvPr name="TextBox 17" id="17"/>
          <p:cNvSpPr txBox="true"/>
          <p:nvPr/>
        </p:nvSpPr>
        <p:spPr>
          <a:xfrm rot="0">
            <a:off x="12376936" y="4339416"/>
            <a:ext cx="4147352" cy="639296"/>
          </a:xfrm>
          <a:prstGeom prst="rect">
            <a:avLst/>
          </a:prstGeom>
        </p:spPr>
        <p:txBody>
          <a:bodyPr anchor="t" rtlCol="false" tIns="0" lIns="0" bIns="0" rIns="0">
            <a:spAutoFit/>
          </a:bodyPr>
          <a:lstStyle/>
          <a:p>
            <a:pPr algn="l" marL="0" indent="0" lvl="0">
              <a:lnSpc>
                <a:spcPts val="2563"/>
              </a:lnSpc>
              <a:spcBef>
                <a:spcPct val="0"/>
              </a:spcBef>
            </a:pPr>
            <a:r>
              <a:rPr lang="en-US" sz="1830">
                <a:solidFill>
                  <a:srgbClr val="6B7280"/>
                </a:solidFill>
                <a:latin typeface="Inter"/>
                <a:ea typeface="Inter"/>
                <a:cs typeface="Inter"/>
                <a:sym typeface="Inter"/>
              </a:rPr>
              <a:t>Pipeline monitoring, leak detection, and remote asset management.</a:t>
            </a:r>
          </a:p>
        </p:txBody>
      </p:sp>
      <p:sp>
        <p:nvSpPr>
          <p:cNvPr name="TextBox 18" id="18"/>
          <p:cNvSpPr txBox="true"/>
          <p:nvPr/>
        </p:nvSpPr>
        <p:spPr>
          <a:xfrm rot="0">
            <a:off x="12376936" y="6111066"/>
            <a:ext cx="4147352" cy="639296"/>
          </a:xfrm>
          <a:prstGeom prst="rect">
            <a:avLst/>
          </a:prstGeom>
        </p:spPr>
        <p:txBody>
          <a:bodyPr anchor="t" rtlCol="false" tIns="0" lIns="0" bIns="0" rIns="0">
            <a:spAutoFit/>
          </a:bodyPr>
          <a:lstStyle/>
          <a:p>
            <a:pPr algn="l" marL="0" indent="0" lvl="0">
              <a:lnSpc>
                <a:spcPts val="2563"/>
              </a:lnSpc>
              <a:spcBef>
                <a:spcPct val="0"/>
              </a:spcBef>
            </a:pPr>
            <a:r>
              <a:rPr lang="en-US" sz="1830">
                <a:solidFill>
                  <a:srgbClr val="6B7280"/>
                </a:solidFill>
                <a:latin typeface="Inter"/>
                <a:ea typeface="Inter"/>
                <a:cs typeface="Inter"/>
                <a:sym typeface="Inter"/>
              </a:rPr>
              <a:t>Smart grid management and energy distribution optimization.</a:t>
            </a:r>
          </a:p>
        </p:txBody>
      </p:sp>
      <p:sp>
        <p:nvSpPr>
          <p:cNvPr name="TextBox 19" id="19"/>
          <p:cNvSpPr txBox="true"/>
          <p:nvPr/>
        </p:nvSpPr>
        <p:spPr>
          <a:xfrm rot="0">
            <a:off x="12376936" y="7882716"/>
            <a:ext cx="4147352" cy="639296"/>
          </a:xfrm>
          <a:prstGeom prst="rect">
            <a:avLst/>
          </a:prstGeom>
        </p:spPr>
        <p:txBody>
          <a:bodyPr anchor="t" rtlCol="false" tIns="0" lIns="0" bIns="0" rIns="0">
            <a:spAutoFit/>
          </a:bodyPr>
          <a:lstStyle/>
          <a:p>
            <a:pPr algn="l" marL="0" indent="0" lvl="0">
              <a:lnSpc>
                <a:spcPts val="2563"/>
              </a:lnSpc>
              <a:spcBef>
                <a:spcPct val="0"/>
              </a:spcBef>
            </a:pPr>
            <a:r>
              <a:rPr lang="en-US" sz="1830">
                <a:solidFill>
                  <a:srgbClr val="6B7280"/>
                </a:solidFill>
                <a:latin typeface="Inter"/>
                <a:ea typeface="Inter"/>
                <a:cs typeface="Inter"/>
                <a:sym typeface="Inter"/>
              </a:rPr>
              <a:t>Fleet tracking, warehouse automation, and supply chain visibility.</a:t>
            </a:r>
          </a:p>
        </p:txBody>
      </p:sp>
      <p:sp>
        <p:nvSpPr>
          <p:cNvPr name="Freeform 20" id="20"/>
          <p:cNvSpPr/>
          <p:nvPr/>
        </p:nvSpPr>
        <p:spPr>
          <a:xfrm flipH="false" flipV="false" rot="0">
            <a:off x="5014554" y="5427887"/>
            <a:ext cx="3776383" cy="2855889"/>
          </a:xfrm>
          <a:custGeom>
            <a:avLst/>
            <a:gdLst/>
            <a:ahLst/>
            <a:cxnLst/>
            <a:rect r="r" b="b" t="t" l="l"/>
            <a:pathLst>
              <a:path h="2855889" w="3776383">
                <a:moveTo>
                  <a:pt x="0" y="0"/>
                </a:moveTo>
                <a:lnTo>
                  <a:pt x="3776383" y="0"/>
                </a:lnTo>
                <a:lnTo>
                  <a:pt x="3776383" y="2855890"/>
                </a:lnTo>
                <a:lnTo>
                  <a:pt x="0" y="2855890"/>
                </a:lnTo>
                <a:lnTo>
                  <a:pt x="0" y="0"/>
                </a:lnTo>
                <a:close/>
              </a:path>
            </a:pathLst>
          </a:custGeom>
          <a:blipFill>
            <a:blip r:embed="rId7"/>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4715740" y="5555774"/>
            <a:ext cx="8950467" cy="3166519"/>
            <a:chOff x="0" y="0"/>
            <a:chExt cx="2357325" cy="833980"/>
          </a:xfrm>
        </p:grpSpPr>
        <p:sp>
          <p:nvSpPr>
            <p:cNvPr name="Freeform 3" id="3"/>
            <p:cNvSpPr/>
            <p:nvPr/>
          </p:nvSpPr>
          <p:spPr>
            <a:xfrm flipH="false" flipV="false" rot="0">
              <a:off x="0" y="0"/>
              <a:ext cx="2357325" cy="833980"/>
            </a:xfrm>
            <a:custGeom>
              <a:avLst/>
              <a:gdLst/>
              <a:ahLst/>
              <a:cxnLst/>
              <a:rect r="r" b="b" t="t" l="l"/>
              <a:pathLst>
                <a:path h="833980" w="2357325">
                  <a:moveTo>
                    <a:pt x="31139" y="0"/>
                  </a:moveTo>
                  <a:lnTo>
                    <a:pt x="2326186" y="0"/>
                  </a:lnTo>
                  <a:cubicBezTo>
                    <a:pt x="2334444" y="0"/>
                    <a:pt x="2342365" y="3281"/>
                    <a:pt x="2348204" y="9120"/>
                  </a:cubicBezTo>
                  <a:cubicBezTo>
                    <a:pt x="2354044" y="14960"/>
                    <a:pt x="2357325" y="22880"/>
                    <a:pt x="2357325" y="31139"/>
                  </a:cubicBezTo>
                  <a:lnTo>
                    <a:pt x="2357325" y="802841"/>
                  </a:lnTo>
                  <a:cubicBezTo>
                    <a:pt x="2357325" y="811100"/>
                    <a:pt x="2354044" y="819020"/>
                    <a:pt x="2348204" y="824860"/>
                  </a:cubicBezTo>
                  <a:cubicBezTo>
                    <a:pt x="2342365" y="830700"/>
                    <a:pt x="2334444" y="833980"/>
                    <a:pt x="2326186" y="833980"/>
                  </a:cubicBezTo>
                  <a:lnTo>
                    <a:pt x="31139" y="833980"/>
                  </a:lnTo>
                  <a:cubicBezTo>
                    <a:pt x="22880" y="833980"/>
                    <a:pt x="14960" y="830700"/>
                    <a:pt x="9120" y="824860"/>
                  </a:cubicBezTo>
                  <a:cubicBezTo>
                    <a:pt x="3281" y="819020"/>
                    <a:pt x="0" y="811100"/>
                    <a:pt x="0" y="802841"/>
                  </a:cubicBezTo>
                  <a:lnTo>
                    <a:pt x="0" y="31139"/>
                  </a:lnTo>
                  <a:cubicBezTo>
                    <a:pt x="0" y="22880"/>
                    <a:pt x="3281" y="14960"/>
                    <a:pt x="9120" y="9120"/>
                  </a:cubicBezTo>
                  <a:cubicBezTo>
                    <a:pt x="14960" y="3281"/>
                    <a:pt x="22880" y="0"/>
                    <a:pt x="31139" y="0"/>
                  </a:cubicBezTo>
                  <a:close/>
                </a:path>
              </a:pathLst>
            </a:custGeom>
            <a:solidFill>
              <a:srgbClr val="D1FAE5"/>
            </a:solidFill>
          </p:spPr>
        </p:sp>
        <p:sp>
          <p:nvSpPr>
            <p:cNvPr name="TextBox 4" id="4"/>
            <p:cNvSpPr txBox="true"/>
            <p:nvPr/>
          </p:nvSpPr>
          <p:spPr>
            <a:xfrm>
              <a:off x="0" y="-38100"/>
              <a:ext cx="2357325" cy="872080"/>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1720254" y="3684845"/>
            <a:ext cx="2614487" cy="2614487"/>
          </a:xfrm>
          <a:custGeom>
            <a:avLst/>
            <a:gdLst/>
            <a:ahLst/>
            <a:cxnLst/>
            <a:rect r="r" b="b" t="t" l="l"/>
            <a:pathLst>
              <a:path h="2614487" w="2614487">
                <a:moveTo>
                  <a:pt x="0" y="0"/>
                </a:moveTo>
                <a:lnTo>
                  <a:pt x="2614486" y="0"/>
                </a:lnTo>
                <a:lnTo>
                  <a:pt x="2614486" y="2614486"/>
                </a:lnTo>
                <a:lnTo>
                  <a:pt x="0" y="26144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4078523" y="6643813"/>
            <a:ext cx="2614487" cy="2614487"/>
          </a:xfrm>
          <a:custGeom>
            <a:avLst/>
            <a:gdLst/>
            <a:ahLst/>
            <a:cxnLst/>
            <a:rect r="r" b="b" t="t" l="l"/>
            <a:pathLst>
              <a:path h="2614487" w="2614487">
                <a:moveTo>
                  <a:pt x="2614487" y="0"/>
                </a:moveTo>
                <a:lnTo>
                  <a:pt x="0" y="0"/>
                </a:lnTo>
                <a:lnTo>
                  <a:pt x="0" y="2614487"/>
                </a:lnTo>
                <a:lnTo>
                  <a:pt x="2614487" y="2614487"/>
                </a:lnTo>
                <a:lnTo>
                  <a:pt x="261448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358386" y="4361818"/>
            <a:ext cx="1286970" cy="1041604"/>
          </a:xfrm>
          <a:custGeom>
            <a:avLst/>
            <a:gdLst/>
            <a:ahLst/>
            <a:cxnLst/>
            <a:rect r="r" b="b" t="t" l="l"/>
            <a:pathLst>
              <a:path h="1041604" w="1286970">
                <a:moveTo>
                  <a:pt x="0" y="0"/>
                </a:moveTo>
                <a:lnTo>
                  <a:pt x="1286970" y="0"/>
                </a:lnTo>
                <a:lnTo>
                  <a:pt x="1286970" y="1041604"/>
                </a:lnTo>
                <a:lnTo>
                  <a:pt x="0" y="1041604"/>
                </a:lnTo>
                <a:lnTo>
                  <a:pt x="0" y="0"/>
                </a:lnTo>
                <a:close/>
              </a:path>
            </a:pathLst>
          </a:custGeom>
          <a:blipFill>
            <a:blip r:embed="rId4"/>
            <a:stretch>
              <a:fillRect l="0" t="0" r="0" b="0"/>
            </a:stretch>
          </a:blipFill>
        </p:spPr>
      </p:sp>
      <p:sp>
        <p:nvSpPr>
          <p:cNvPr name="Freeform 8" id="8"/>
          <p:cNvSpPr/>
          <p:nvPr/>
        </p:nvSpPr>
        <p:spPr>
          <a:xfrm flipH="false" flipV="false" rot="0">
            <a:off x="14539950" y="7431950"/>
            <a:ext cx="1596913" cy="976473"/>
          </a:xfrm>
          <a:custGeom>
            <a:avLst/>
            <a:gdLst/>
            <a:ahLst/>
            <a:cxnLst/>
            <a:rect r="r" b="b" t="t" l="l"/>
            <a:pathLst>
              <a:path h="976473" w="1596913">
                <a:moveTo>
                  <a:pt x="0" y="0"/>
                </a:moveTo>
                <a:lnTo>
                  <a:pt x="1596912" y="0"/>
                </a:lnTo>
                <a:lnTo>
                  <a:pt x="1596912" y="976472"/>
                </a:lnTo>
                <a:lnTo>
                  <a:pt x="0" y="976472"/>
                </a:lnTo>
                <a:lnTo>
                  <a:pt x="0" y="0"/>
                </a:lnTo>
                <a:close/>
              </a:path>
            </a:pathLst>
          </a:custGeom>
          <a:blipFill>
            <a:blip r:embed="rId5"/>
            <a:stretch>
              <a:fillRect l="0" t="0" r="0" b="0"/>
            </a:stretch>
          </a:blipFill>
        </p:spPr>
      </p:sp>
      <p:sp>
        <p:nvSpPr>
          <p:cNvPr name="Freeform 9" id="9"/>
          <p:cNvSpPr/>
          <p:nvPr/>
        </p:nvSpPr>
        <p:spPr>
          <a:xfrm flipH="false" flipV="false" rot="0">
            <a:off x="16120806" y="0"/>
            <a:ext cx="2167194" cy="2167194"/>
          </a:xfrm>
          <a:custGeom>
            <a:avLst/>
            <a:gdLst/>
            <a:ahLst/>
            <a:cxnLst/>
            <a:rect r="r" b="b" t="t" l="l"/>
            <a:pathLst>
              <a:path h="2167194" w="2167194">
                <a:moveTo>
                  <a:pt x="0" y="0"/>
                </a:moveTo>
                <a:lnTo>
                  <a:pt x="2167194" y="0"/>
                </a:lnTo>
                <a:lnTo>
                  <a:pt x="2167194" y="2167194"/>
                </a:lnTo>
                <a:lnTo>
                  <a:pt x="0" y="21671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21638" y="0"/>
            <a:ext cx="2167194" cy="2167194"/>
          </a:xfrm>
          <a:custGeom>
            <a:avLst/>
            <a:gdLst/>
            <a:ahLst/>
            <a:cxnLst/>
            <a:rect r="r" b="b" t="t" l="l"/>
            <a:pathLst>
              <a:path h="2167194" w="2167194">
                <a:moveTo>
                  <a:pt x="2167194" y="0"/>
                </a:moveTo>
                <a:lnTo>
                  <a:pt x="0" y="0"/>
                </a:lnTo>
                <a:lnTo>
                  <a:pt x="0" y="2167194"/>
                </a:lnTo>
                <a:lnTo>
                  <a:pt x="2167194" y="2167194"/>
                </a:lnTo>
                <a:lnTo>
                  <a:pt x="216719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4998696" y="885825"/>
            <a:ext cx="9752796" cy="1219478"/>
          </a:xfrm>
          <a:prstGeom prst="rect">
            <a:avLst/>
          </a:prstGeom>
        </p:spPr>
        <p:txBody>
          <a:bodyPr anchor="t" rtlCol="false" tIns="0" lIns="0" bIns="0" rIns="0">
            <a:spAutoFit/>
          </a:bodyPr>
          <a:lstStyle/>
          <a:p>
            <a:pPr algn="l" marL="0" indent="0" lvl="0">
              <a:lnSpc>
                <a:spcPts val="9959"/>
              </a:lnSpc>
            </a:pPr>
            <a:r>
              <a:rPr lang="en-US" b="true" sz="7114">
                <a:solidFill>
                  <a:srgbClr val="1F1F1F"/>
                </a:solidFill>
                <a:latin typeface="Montserrat Bold"/>
                <a:ea typeface="Montserrat Bold"/>
                <a:cs typeface="Montserrat Bold"/>
                <a:sym typeface="Montserrat Bold"/>
              </a:rPr>
              <a:t>Traditional vs IoT</a:t>
            </a:r>
          </a:p>
        </p:txBody>
      </p:sp>
      <p:sp>
        <p:nvSpPr>
          <p:cNvPr name="TextBox 12" id="12"/>
          <p:cNvSpPr txBox="true"/>
          <p:nvPr/>
        </p:nvSpPr>
        <p:spPr>
          <a:xfrm rot="0">
            <a:off x="5729342" y="2024319"/>
            <a:ext cx="7581618" cy="1219478"/>
          </a:xfrm>
          <a:prstGeom prst="rect">
            <a:avLst/>
          </a:prstGeom>
        </p:spPr>
        <p:txBody>
          <a:bodyPr anchor="t" rtlCol="false" tIns="0" lIns="0" bIns="0" rIns="0">
            <a:spAutoFit/>
          </a:bodyPr>
          <a:lstStyle/>
          <a:p>
            <a:pPr algn="l" marL="0" indent="0" lvl="0">
              <a:lnSpc>
                <a:spcPts val="9959"/>
              </a:lnSpc>
            </a:pPr>
            <a:r>
              <a:rPr lang="en-US" b="true" sz="7114">
                <a:solidFill>
                  <a:srgbClr val="10B981"/>
                </a:solidFill>
                <a:latin typeface="Montserrat Bold"/>
                <a:ea typeface="Montserrat Bold"/>
                <a:cs typeface="Montserrat Bold"/>
                <a:sym typeface="Montserrat Bold"/>
              </a:rPr>
              <a:t>ICS Comparison</a:t>
            </a:r>
          </a:p>
        </p:txBody>
      </p:sp>
      <p:sp>
        <p:nvSpPr>
          <p:cNvPr name="TextBox 13" id="13"/>
          <p:cNvSpPr txBox="true"/>
          <p:nvPr/>
        </p:nvSpPr>
        <p:spPr>
          <a:xfrm rot="0">
            <a:off x="5511987" y="5992706"/>
            <a:ext cx="7359449" cy="1989738"/>
          </a:xfrm>
          <a:prstGeom prst="rect">
            <a:avLst/>
          </a:prstGeom>
        </p:spPr>
        <p:txBody>
          <a:bodyPr anchor="t" rtlCol="false" tIns="0" lIns="0" bIns="0" rIns="0">
            <a:spAutoFit/>
          </a:bodyPr>
          <a:lstStyle/>
          <a:p>
            <a:pPr algn="ctr" marL="0" indent="0" lvl="0">
              <a:lnSpc>
                <a:spcPts val="3204"/>
              </a:lnSpc>
              <a:spcBef>
                <a:spcPct val="0"/>
              </a:spcBef>
            </a:pPr>
            <a:r>
              <a:rPr lang="en-US" sz="2288">
                <a:solidFill>
                  <a:srgbClr val="6B7280"/>
                </a:solidFill>
                <a:latin typeface="Inter"/>
                <a:ea typeface="Inter"/>
                <a:cs typeface="Inter"/>
                <a:sym typeface="Inter"/>
              </a:rPr>
              <a:t>Traditional ICS relies on isolated networks with manual monitoring and limited data visibility. IoT-integrated ICS enables real-time analytics, predictive maintenance, and remote access, improving efficiency by 25-40% while reducing downtime by up to 50%.</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4668767" y="5341624"/>
            <a:ext cx="8950467" cy="3916676"/>
            <a:chOff x="0" y="0"/>
            <a:chExt cx="2357325" cy="1031552"/>
          </a:xfrm>
        </p:grpSpPr>
        <p:sp>
          <p:nvSpPr>
            <p:cNvPr name="Freeform 3" id="3"/>
            <p:cNvSpPr/>
            <p:nvPr/>
          </p:nvSpPr>
          <p:spPr>
            <a:xfrm flipH="false" flipV="false" rot="0">
              <a:off x="0" y="0"/>
              <a:ext cx="2357325" cy="1031552"/>
            </a:xfrm>
            <a:custGeom>
              <a:avLst/>
              <a:gdLst/>
              <a:ahLst/>
              <a:cxnLst/>
              <a:rect r="r" b="b" t="t" l="l"/>
              <a:pathLst>
                <a:path h="1031552" w="2357325">
                  <a:moveTo>
                    <a:pt x="31139" y="0"/>
                  </a:moveTo>
                  <a:lnTo>
                    <a:pt x="2326186" y="0"/>
                  </a:lnTo>
                  <a:cubicBezTo>
                    <a:pt x="2334444" y="0"/>
                    <a:pt x="2342365" y="3281"/>
                    <a:pt x="2348204" y="9120"/>
                  </a:cubicBezTo>
                  <a:cubicBezTo>
                    <a:pt x="2354044" y="14960"/>
                    <a:pt x="2357325" y="22880"/>
                    <a:pt x="2357325" y="31139"/>
                  </a:cubicBezTo>
                  <a:lnTo>
                    <a:pt x="2357325" y="1000413"/>
                  </a:lnTo>
                  <a:cubicBezTo>
                    <a:pt x="2357325" y="1008672"/>
                    <a:pt x="2354044" y="1016592"/>
                    <a:pt x="2348204" y="1022432"/>
                  </a:cubicBezTo>
                  <a:cubicBezTo>
                    <a:pt x="2342365" y="1028272"/>
                    <a:pt x="2334444" y="1031552"/>
                    <a:pt x="2326186" y="1031552"/>
                  </a:cubicBezTo>
                  <a:lnTo>
                    <a:pt x="31139" y="1031552"/>
                  </a:lnTo>
                  <a:cubicBezTo>
                    <a:pt x="22880" y="1031552"/>
                    <a:pt x="14960" y="1028272"/>
                    <a:pt x="9120" y="1022432"/>
                  </a:cubicBezTo>
                  <a:cubicBezTo>
                    <a:pt x="3281" y="1016592"/>
                    <a:pt x="0" y="1008672"/>
                    <a:pt x="0" y="1000413"/>
                  </a:cubicBezTo>
                  <a:lnTo>
                    <a:pt x="0" y="31139"/>
                  </a:lnTo>
                  <a:cubicBezTo>
                    <a:pt x="0" y="22880"/>
                    <a:pt x="3281" y="14960"/>
                    <a:pt x="9120" y="9120"/>
                  </a:cubicBezTo>
                  <a:cubicBezTo>
                    <a:pt x="14960" y="3281"/>
                    <a:pt x="22880" y="0"/>
                    <a:pt x="31139" y="0"/>
                  </a:cubicBezTo>
                  <a:close/>
                </a:path>
              </a:pathLst>
            </a:custGeom>
            <a:solidFill>
              <a:srgbClr val="D1FAE5"/>
            </a:solidFill>
          </p:spPr>
        </p:sp>
        <p:sp>
          <p:nvSpPr>
            <p:cNvPr name="TextBox 4" id="4"/>
            <p:cNvSpPr txBox="true"/>
            <p:nvPr/>
          </p:nvSpPr>
          <p:spPr>
            <a:xfrm>
              <a:off x="0" y="-38100"/>
              <a:ext cx="2357325" cy="1069652"/>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1649257" y="5019314"/>
            <a:ext cx="2844513" cy="2562913"/>
          </a:xfrm>
          <a:custGeom>
            <a:avLst/>
            <a:gdLst/>
            <a:ahLst/>
            <a:cxnLst/>
            <a:rect r="r" b="b" t="t" l="l"/>
            <a:pathLst>
              <a:path h="2562913" w="2844513">
                <a:moveTo>
                  <a:pt x="0" y="0"/>
                </a:moveTo>
                <a:lnTo>
                  <a:pt x="2844513" y="0"/>
                </a:lnTo>
                <a:lnTo>
                  <a:pt x="2844513" y="2562914"/>
                </a:lnTo>
                <a:lnTo>
                  <a:pt x="0" y="2562914"/>
                </a:lnTo>
                <a:lnTo>
                  <a:pt x="0" y="0"/>
                </a:lnTo>
                <a:close/>
              </a:path>
            </a:pathLst>
          </a:custGeom>
          <a:blipFill>
            <a:blip r:embed="rId2"/>
            <a:stretch>
              <a:fillRect l="0" t="0" r="0" b="0"/>
            </a:stretch>
          </a:blipFill>
        </p:spPr>
      </p:sp>
      <p:sp>
        <p:nvSpPr>
          <p:cNvPr name="Freeform 6" id="6"/>
          <p:cNvSpPr/>
          <p:nvPr/>
        </p:nvSpPr>
        <p:spPr>
          <a:xfrm flipH="false" flipV="false" rot="0">
            <a:off x="13751506" y="6725682"/>
            <a:ext cx="2939451" cy="2625051"/>
          </a:xfrm>
          <a:custGeom>
            <a:avLst/>
            <a:gdLst/>
            <a:ahLst/>
            <a:cxnLst/>
            <a:rect r="r" b="b" t="t" l="l"/>
            <a:pathLst>
              <a:path h="2625051" w="2939451">
                <a:moveTo>
                  <a:pt x="0" y="0"/>
                </a:moveTo>
                <a:lnTo>
                  <a:pt x="2939451" y="0"/>
                </a:lnTo>
                <a:lnTo>
                  <a:pt x="2939451" y="2625051"/>
                </a:lnTo>
                <a:lnTo>
                  <a:pt x="0" y="2625051"/>
                </a:lnTo>
                <a:lnTo>
                  <a:pt x="0" y="0"/>
                </a:lnTo>
                <a:close/>
              </a:path>
            </a:pathLst>
          </a:custGeom>
          <a:blipFill>
            <a:blip r:embed="rId3"/>
            <a:stretch>
              <a:fillRect l="0" t="0" r="0" b="0"/>
            </a:stretch>
          </a:blipFill>
        </p:spPr>
      </p:sp>
      <p:sp>
        <p:nvSpPr>
          <p:cNvPr name="Freeform 7" id="7"/>
          <p:cNvSpPr/>
          <p:nvPr/>
        </p:nvSpPr>
        <p:spPr>
          <a:xfrm flipH="false" flipV="false" rot="0">
            <a:off x="2439408" y="5596009"/>
            <a:ext cx="987553" cy="1203057"/>
          </a:xfrm>
          <a:custGeom>
            <a:avLst/>
            <a:gdLst/>
            <a:ahLst/>
            <a:cxnLst/>
            <a:rect r="r" b="b" t="t" l="l"/>
            <a:pathLst>
              <a:path h="1203057" w="987553">
                <a:moveTo>
                  <a:pt x="0" y="0"/>
                </a:moveTo>
                <a:lnTo>
                  <a:pt x="987553" y="0"/>
                </a:lnTo>
                <a:lnTo>
                  <a:pt x="987553" y="1203057"/>
                </a:lnTo>
                <a:lnTo>
                  <a:pt x="0" y="1203057"/>
                </a:lnTo>
                <a:lnTo>
                  <a:pt x="0" y="0"/>
                </a:lnTo>
                <a:close/>
              </a:path>
            </a:pathLst>
          </a:custGeom>
          <a:blipFill>
            <a:blip r:embed="rId4"/>
            <a:stretch>
              <a:fillRect l="0" t="0" r="0" b="0"/>
            </a:stretch>
          </a:blipFill>
        </p:spPr>
      </p:sp>
      <p:sp>
        <p:nvSpPr>
          <p:cNvPr name="Freeform 8" id="8"/>
          <p:cNvSpPr/>
          <p:nvPr/>
        </p:nvSpPr>
        <p:spPr>
          <a:xfrm flipH="false" flipV="false" rot="0">
            <a:off x="14683543" y="7244539"/>
            <a:ext cx="1250334" cy="942626"/>
          </a:xfrm>
          <a:custGeom>
            <a:avLst/>
            <a:gdLst/>
            <a:ahLst/>
            <a:cxnLst/>
            <a:rect r="r" b="b" t="t" l="l"/>
            <a:pathLst>
              <a:path h="942626" w="1250334">
                <a:moveTo>
                  <a:pt x="0" y="0"/>
                </a:moveTo>
                <a:lnTo>
                  <a:pt x="1250334" y="0"/>
                </a:lnTo>
                <a:lnTo>
                  <a:pt x="1250334" y="942626"/>
                </a:lnTo>
                <a:lnTo>
                  <a:pt x="0" y="942626"/>
                </a:lnTo>
                <a:lnTo>
                  <a:pt x="0" y="0"/>
                </a:lnTo>
                <a:close/>
              </a:path>
            </a:pathLst>
          </a:custGeom>
          <a:blipFill>
            <a:blip r:embed="rId5"/>
            <a:stretch>
              <a:fillRect l="0" t="0" r="0" b="0"/>
            </a:stretch>
          </a:blipFill>
        </p:spPr>
      </p:sp>
      <p:sp>
        <p:nvSpPr>
          <p:cNvPr name="Freeform 9" id="9"/>
          <p:cNvSpPr/>
          <p:nvPr/>
        </p:nvSpPr>
        <p:spPr>
          <a:xfrm flipH="false" flipV="false" rot="0">
            <a:off x="1622737" y="1915098"/>
            <a:ext cx="2102821" cy="1671743"/>
          </a:xfrm>
          <a:custGeom>
            <a:avLst/>
            <a:gdLst/>
            <a:ahLst/>
            <a:cxnLst/>
            <a:rect r="r" b="b" t="t" l="l"/>
            <a:pathLst>
              <a:path h="1671743" w="2102821">
                <a:moveTo>
                  <a:pt x="0" y="0"/>
                </a:moveTo>
                <a:lnTo>
                  <a:pt x="2102821" y="0"/>
                </a:lnTo>
                <a:lnTo>
                  <a:pt x="2102821" y="1671742"/>
                </a:lnTo>
                <a:lnTo>
                  <a:pt x="0" y="1671742"/>
                </a:lnTo>
                <a:lnTo>
                  <a:pt x="0" y="0"/>
                </a:lnTo>
                <a:close/>
              </a:path>
            </a:pathLst>
          </a:custGeom>
          <a:blipFill>
            <a:blip r:embed="rId6"/>
            <a:stretch>
              <a:fillRect l="0" t="0" r="0" b="0"/>
            </a:stretch>
          </a:blipFill>
        </p:spPr>
      </p:sp>
      <p:sp>
        <p:nvSpPr>
          <p:cNvPr name="Freeform 10" id="10"/>
          <p:cNvSpPr/>
          <p:nvPr/>
        </p:nvSpPr>
        <p:spPr>
          <a:xfrm flipH="false" flipV="false" rot="0">
            <a:off x="14897270" y="1649974"/>
            <a:ext cx="2697946" cy="970314"/>
          </a:xfrm>
          <a:custGeom>
            <a:avLst/>
            <a:gdLst/>
            <a:ahLst/>
            <a:cxnLst/>
            <a:rect r="r" b="b" t="t" l="l"/>
            <a:pathLst>
              <a:path h="970314" w="2697946">
                <a:moveTo>
                  <a:pt x="0" y="0"/>
                </a:moveTo>
                <a:lnTo>
                  <a:pt x="2697946" y="0"/>
                </a:lnTo>
                <a:lnTo>
                  <a:pt x="2697946" y="970314"/>
                </a:lnTo>
                <a:lnTo>
                  <a:pt x="0" y="970314"/>
                </a:lnTo>
                <a:lnTo>
                  <a:pt x="0" y="0"/>
                </a:lnTo>
                <a:close/>
              </a:path>
            </a:pathLst>
          </a:custGeom>
          <a:blipFill>
            <a:blip r:embed="rId7"/>
            <a:stretch>
              <a:fillRect l="0" t="0" r="0" b="0"/>
            </a:stretch>
          </a:blipFill>
        </p:spPr>
      </p:sp>
      <p:sp>
        <p:nvSpPr>
          <p:cNvPr name="TextBox 11" id="11"/>
          <p:cNvSpPr txBox="true"/>
          <p:nvPr/>
        </p:nvSpPr>
        <p:spPr>
          <a:xfrm rot="0">
            <a:off x="4998696" y="847725"/>
            <a:ext cx="8312264" cy="1698805"/>
          </a:xfrm>
          <a:prstGeom prst="rect">
            <a:avLst/>
          </a:prstGeom>
        </p:spPr>
        <p:txBody>
          <a:bodyPr anchor="t" rtlCol="false" tIns="0" lIns="0" bIns="0" rIns="0">
            <a:spAutoFit/>
          </a:bodyPr>
          <a:lstStyle/>
          <a:p>
            <a:pPr algn="l" marL="0" indent="0" lvl="0">
              <a:lnSpc>
                <a:spcPts val="13990"/>
              </a:lnSpc>
            </a:pPr>
            <a:r>
              <a:rPr lang="en-US" b="true" sz="9992">
                <a:solidFill>
                  <a:srgbClr val="1F1F1F"/>
                </a:solidFill>
                <a:latin typeface="Montserrat Bold"/>
                <a:ea typeface="Montserrat Bold"/>
                <a:cs typeface="Montserrat Bold"/>
                <a:sym typeface="Montserrat Bold"/>
              </a:rPr>
              <a:t>Security</a:t>
            </a:r>
          </a:p>
        </p:txBody>
      </p:sp>
      <p:sp>
        <p:nvSpPr>
          <p:cNvPr name="TextBox 12" id="12"/>
          <p:cNvSpPr txBox="true"/>
          <p:nvPr/>
        </p:nvSpPr>
        <p:spPr>
          <a:xfrm rot="0">
            <a:off x="5729342" y="1986219"/>
            <a:ext cx="7581618" cy="1698805"/>
          </a:xfrm>
          <a:prstGeom prst="rect">
            <a:avLst/>
          </a:prstGeom>
        </p:spPr>
        <p:txBody>
          <a:bodyPr anchor="t" rtlCol="false" tIns="0" lIns="0" bIns="0" rIns="0">
            <a:spAutoFit/>
          </a:bodyPr>
          <a:lstStyle/>
          <a:p>
            <a:pPr algn="l" marL="0" indent="0" lvl="0">
              <a:lnSpc>
                <a:spcPts val="13990"/>
              </a:lnSpc>
            </a:pPr>
            <a:r>
              <a:rPr lang="en-US" b="true" sz="9992">
                <a:solidFill>
                  <a:srgbClr val="10B981"/>
                </a:solidFill>
                <a:latin typeface="Montserrat Bold"/>
                <a:ea typeface="Montserrat Bold"/>
                <a:cs typeface="Montserrat Bold"/>
                <a:sym typeface="Montserrat Bold"/>
              </a:rPr>
              <a:t>Challenges</a:t>
            </a:r>
          </a:p>
        </p:txBody>
      </p:sp>
      <p:sp>
        <p:nvSpPr>
          <p:cNvPr name="TextBox 13" id="13"/>
          <p:cNvSpPr txBox="true"/>
          <p:nvPr/>
        </p:nvSpPr>
        <p:spPr>
          <a:xfrm rot="0">
            <a:off x="5475104" y="5969637"/>
            <a:ext cx="7359449" cy="2445276"/>
          </a:xfrm>
          <a:prstGeom prst="rect">
            <a:avLst/>
          </a:prstGeom>
        </p:spPr>
        <p:txBody>
          <a:bodyPr anchor="t" rtlCol="false" tIns="0" lIns="0" bIns="0" rIns="0">
            <a:spAutoFit/>
          </a:bodyPr>
          <a:lstStyle/>
          <a:p>
            <a:pPr algn="ctr" marL="0" indent="0" lvl="0">
              <a:lnSpc>
                <a:spcPts val="3296"/>
              </a:lnSpc>
              <a:spcBef>
                <a:spcPct val="0"/>
              </a:spcBef>
            </a:pPr>
            <a:r>
              <a:rPr lang="en-US" sz="2354">
                <a:solidFill>
                  <a:srgbClr val="6B7280"/>
                </a:solidFill>
                <a:latin typeface="Inter"/>
                <a:ea typeface="Inter"/>
                <a:cs typeface="Inter"/>
                <a:sym typeface="Inter"/>
              </a:rPr>
              <a:t>IoT-ICS integration introduces network vulnerabilities including unauthorized access, data breaches, and malware attacks. Mitigation strategies include network segmentation, encryption protocols, intrusion detection systems, and regular security audits to protect critical infrastructure.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7458603" y="6178452"/>
            <a:ext cx="8950467" cy="3079848"/>
            <a:chOff x="0" y="0"/>
            <a:chExt cx="2357325" cy="811153"/>
          </a:xfrm>
        </p:grpSpPr>
        <p:sp>
          <p:nvSpPr>
            <p:cNvPr name="Freeform 3" id="3"/>
            <p:cNvSpPr/>
            <p:nvPr/>
          </p:nvSpPr>
          <p:spPr>
            <a:xfrm flipH="false" flipV="false" rot="0">
              <a:off x="0" y="0"/>
              <a:ext cx="2357325" cy="811153"/>
            </a:xfrm>
            <a:custGeom>
              <a:avLst/>
              <a:gdLst/>
              <a:ahLst/>
              <a:cxnLst/>
              <a:rect r="r" b="b" t="t" l="l"/>
              <a:pathLst>
                <a:path h="811153" w="2357325">
                  <a:moveTo>
                    <a:pt x="31139" y="0"/>
                  </a:moveTo>
                  <a:lnTo>
                    <a:pt x="2326186" y="0"/>
                  </a:lnTo>
                  <a:cubicBezTo>
                    <a:pt x="2334444" y="0"/>
                    <a:pt x="2342365" y="3281"/>
                    <a:pt x="2348204" y="9120"/>
                  </a:cubicBezTo>
                  <a:cubicBezTo>
                    <a:pt x="2354044" y="14960"/>
                    <a:pt x="2357325" y="22880"/>
                    <a:pt x="2357325" y="31139"/>
                  </a:cubicBezTo>
                  <a:lnTo>
                    <a:pt x="2357325" y="780014"/>
                  </a:lnTo>
                  <a:cubicBezTo>
                    <a:pt x="2357325" y="788273"/>
                    <a:pt x="2354044" y="796193"/>
                    <a:pt x="2348204" y="802033"/>
                  </a:cubicBezTo>
                  <a:cubicBezTo>
                    <a:pt x="2342365" y="807873"/>
                    <a:pt x="2334444" y="811153"/>
                    <a:pt x="2326186" y="811153"/>
                  </a:cubicBezTo>
                  <a:lnTo>
                    <a:pt x="31139" y="811153"/>
                  </a:lnTo>
                  <a:cubicBezTo>
                    <a:pt x="22880" y="811153"/>
                    <a:pt x="14960" y="807873"/>
                    <a:pt x="9120" y="802033"/>
                  </a:cubicBezTo>
                  <a:cubicBezTo>
                    <a:pt x="3281" y="796193"/>
                    <a:pt x="0" y="788273"/>
                    <a:pt x="0" y="780014"/>
                  </a:cubicBezTo>
                  <a:lnTo>
                    <a:pt x="0" y="31139"/>
                  </a:lnTo>
                  <a:cubicBezTo>
                    <a:pt x="0" y="22880"/>
                    <a:pt x="3281" y="14960"/>
                    <a:pt x="9120" y="9120"/>
                  </a:cubicBezTo>
                  <a:cubicBezTo>
                    <a:pt x="14960" y="3281"/>
                    <a:pt x="22880" y="0"/>
                    <a:pt x="31139" y="0"/>
                  </a:cubicBezTo>
                  <a:close/>
                </a:path>
              </a:pathLst>
            </a:custGeom>
            <a:solidFill>
              <a:srgbClr val="D1FAE5"/>
            </a:solidFill>
          </p:spPr>
        </p:sp>
        <p:sp>
          <p:nvSpPr>
            <p:cNvPr name="TextBox 4" id="4"/>
            <p:cNvSpPr txBox="true"/>
            <p:nvPr/>
          </p:nvSpPr>
          <p:spPr>
            <a:xfrm>
              <a:off x="0" y="-38100"/>
              <a:ext cx="2357325" cy="849253"/>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749069" y="4756235"/>
            <a:ext cx="5652106" cy="4196689"/>
          </a:xfrm>
          <a:custGeom>
            <a:avLst/>
            <a:gdLst/>
            <a:ahLst/>
            <a:cxnLst/>
            <a:rect r="r" b="b" t="t" l="l"/>
            <a:pathLst>
              <a:path h="4196689" w="5652106">
                <a:moveTo>
                  <a:pt x="0" y="0"/>
                </a:moveTo>
                <a:lnTo>
                  <a:pt x="5652106" y="0"/>
                </a:lnTo>
                <a:lnTo>
                  <a:pt x="5652106" y="4196689"/>
                </a:lnTo>
                <a:lnTo>
                  <a:pt x="0" y="4196689"/>
                </a:lnTo>
                <a:lnTo>
                  <a:pt x="0" y="0"/>
                </a:lnTo>
                <a:close/>
              </a:path>
            </a:pathLst>
          </a:custGeom>
          <a:blipFill>
            <a:blip r:embed="rId2"/>
            <a:stretch>
              <a:fillRect l="0" t="0" r="0" b="0"/>
            </a:stretch>
          </a:blipFill>
        </p:spPr>
      </p:sp>
      <p:sp>
        <p:nvSpPr>
          <p:cNvPr name="Freeform 6" id="6"/>
          <p:cNvSpPr/>
          <p:nvPr/>
        </p:nvSpPr>
        <p:spPr>
          <a:xfrm flipH="false" flipV="false" rot="0">
            <a:off x="1236147" y="-266497"/>
            <a:ext cx="3311125" cy="3331950"/>
          </a:xfrm>
          <a:custGeom>
            <a:avLst/>
            <a:gdLst/>
            <a:ahLst/>
            <a:cxnLst/>
            <a:rect r="r" b="b" t="t" l="l"/>
            <a:pathLst>
              <a:path h="3331950" w="3311125">
                <a:moveTo>
                  <a:pt x="0" y="0"/>
                </a:moveTo>
                <a:lnTo>
                  <a:pt x="3311126" y="0"/>
                </a:lnTo>
                <a:lnTo>
                  <a:pt x="3311126" y="3331950"/>
                </a:lnTo>
                <a:lnTo>
                  <a:pt x="0" y="3331950"/>
                </a:lnTo>
                <a:lnTo>
                  <a:pt x="0" y="0"/>
                </a:lnTo>
                <a:close/>
              </a:path>
            </a:pathLst>
          </a:custGeom>
          <a:blipFill>
            <a:blip r:embed="rId3"/>
            <a:stretch>
              <a:fillRect l="0" t="0" r="0" b="0"/>
            </a:stretch>
          </a:blipFill>
        </p:spPr>
      </p:sp>
      <p:sp>
        <p:nvSpPr>
          <p:cNvPr name="TextBox 7" id="7"/>
          <p:cNvSpPr txBox="true"/>
          <p:nvPr/>
        </p:nvSpPr>
        <p:spPr>
          <a:xfrm rot="0">
            <a:off x="7458603" y="876300"/>
            <a:ext cx="9238080" cy="1442085"/>
          </a:xfrm>
          <a:prstGeom prst="rect">
            <a:avLst/>
          </a:prstGeom>
        </p:spPr>
        <p:txBody>
          <a:bodyPr anchor="t" rtlCol="false" tIns="0" lIns="0" bIns="0" rIns="0">
            <a:spAutoFit/>
          </a:bodyPr>
          <a:lstStyle/>
          <a:p>
            <a:pPr algn="l" marL="0" indent="0" lvl="0">
              <a:lnSpc>
                <a:spcPts val="11865"/>
              </a:lnSpc>
            </a:pPr>
            <a:r>
              <a:rPr lang="en-US" b="true" sz="8475">
                <a:solidFill>
                  <a:srgbClr val="1F1F1F"/>
                </a:solidFill>
                <a:latin typeface="Montserrat Bold"/>
                <a:ea typeface="Montserrat Bold"/>
                <a:cs typeface="Montserrat Bold"/>
                <a:sym typeface="Montserrat Bold"/>
              </a:rPr>
              <a:t>Implementation</a:t>
            </a:r>
          </a:p>
        </p:txBody>
      </p:sp>
      <p:sp>
        <p:nvSpPr>
          <p:cNvPr name="TextBox 8" id="8"/>
          <p:cNvSpPr txBox="true"/>
          <p:nvPr/>
        </p:nvSpPr>
        <p:spPr>
          <a:xfrm rot="0">
            <a:off x="8766777" y="2041585"/>
            <a:ext cx="8492523" cy="1442085"/>
          </a:xfrm>
          <a:prstGeom prst="rect">
            <a:avLst/>
          </a:prstGeom>
        </p:spPr>
        <p:txBody>
          <a:bodyPr anchor="t" rtlCol="false" tIns="0" lIns="0" bIns="0" rIns="0">
            <a:spAutoFit/>
          </a:bodyPr>
          <a:lstStyle/>
          <a:p>
            <a:pPr algn="l" marL="0" indent="0" lvl="0">
              <a:lnSpc>
                <a:spcPts val="11865"/>
              </a:lnSpc>
            </a:pPr>
            <a:r>
              <a:rPr lang="en-US" b="true" sz="8475">
                <a:solidFill>
                  <a:srgbClr val="10B981"/>
                </a:solidFill>
                <a:latin typeface="Montserrat Bold"/>
                <a:ea typeface="Montserrat Bold"/>
                <a:cs typeface="Montserrat Bold"/>
                <a:sym typeface="Montserrat Bold"/>
              </a:rPr>
              <a:t>Roadmap</a:t>
            </a:r>
          </a:p>
        </p:txBody>
      </p:sp>
      <p:sp>
        <p:nvSpPr>
          <p:cNvPr name="TextBox 9" id="9"/>
          <p:cNvSpPr txBox="true"/>
          <p:nvPr/>
        </p:nvSpPr>
        <p:spPr>
          <a:xfrm rot="0">
            <a:off x="8254112" y="6806465"/>
            <a:ext cx="7359449" cy="1712297"/>
          </a:xfrm>
          <a:prstGeom prst="rect">
            <a:avLst/>
          </a:prstGeom>
        </p:spPr>
        <p:txBody>
          <a:bodyPr anchor="t" rtlCol="false" tIns="0" lIns="0" bIns="0" rIns="0">
            <a:spAutoFit/>
          </a:bodyPr>
          <a:lstStyle/>
          <a:p>
            <a:pPr algn="l" marL="0" indent="0" lvl="0">
              <a:lnSpc>
                <a:spcPts val="2746"/>
              </a:lnSpc>
              <a:spcBef>
                <a:spcPct val="0"/>
              </a:spcBef>
            </a:pPr>
            <a:r>
              <a:rPr lang="en-US" sz="1961">
                <a:solidFill>
                  <a:srgbClr val="6B7280"/>
                </a:solidFill>
                <a:latin typeface="Inter"/>
                <a:ea typeface="Inter"/>
                <a:cs typeface="Inter"/>
                <a:sym typeface="Inter"/>
              </a:rPr>
              <a:t>Phase 1: Assess existing infrastructure and identify integration points. Phase 2: Deploy sensors and edge devices on critical equipment. Phase 3: Establish secure network connectivity and data pipelines. Phase 4: Integrate with SCADA/PLC systems. Phase 5: Launch monitoring dashboards and train personnel.</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8237525" y="5341624"/>
            <a:ext cx="8950467" cy="3916676"/>
            <a:chOff x="0" y="0"/>
            <a:chExt cx="2357325" cy="1031552"/>
          </a:xfrm>
        </p:grpSpPr>
        <p:sp>
          <p:nvSpPr>
            <p:cNvPr name="Freeform 3" id="3"/>
            <p:cNvSpPr/>
            <p:nvPr/>
          </p:nvSpPr>
          <p:spPr>
            <a:xfrm flipH="false" flipV="false" rot="0">
              <a:off x="0" y="0"/>
              <a:ext cx="2357325" cy="1031552"/>
            </a:xfrm>
            <a:custGeom>
              <a:avLst/>
              <a:gdLst/>
              <a:ahLst/>
              <a:cxnLst/>
              <a:rect r="r" b="b" t="t" l="l"/>
              <a:pathLst>
                <a:path h="1031552" w="2357325">
                  <a:moveTo>
                    <a:pt x="31139" y="0"/>
                  </a:moveTo>
                  <a:lnTo>
                    <a:pt x="2326186" y="0"/>
                  </a:lnTo>
                  <a:cubicBezTo>
                    <a:pt x="2334444" y="0"/>
                    <a:pt x="2342365" y="3281"/>
                    <a:pt x="2348204" y="9120"/>
                  </a:cubicBezTo>
                  <a:cubicBezTo>
                    <a:pt x="2354044" y="14960"/>
                    <a:pt x="2357325" y="22880"/>
                    <a:pt x="2357325" y="31139"/>
                  </a:cubicBezTo>
                  <a:lnTo>
                    <a:pt x="2357325" y="1000413"/>
                  </a:lnTo>
                  <a:cubicBezTo>
                    <a:pt x="2357325" y="1008672"/>
                    <a:pt x="2354044" y="1016592"/>
                    <a:pt x="2348204" y="1022432"/>
                  </a:cubicBezTo>
                  <a:cubicBezTo>
                    <a:pt x="2342365" y="1028272"/>
                    <a:pt x="2334444" y="1031552"/>
                    <a:pt x="2326186" y="1031552"/>
                  </a:cubicBezTo>
                  <a:lnTo>
                    <a:pt x="31139" y="1031552"/>
                  </a:lnTo>
                  <a:cubicBezTo>
                    <a:pt x="22880" y="1031552"/>
                    <a:pt x="14960" y="1028272"/>
                    <a:pt x="9120" y="1022432"/>
                  </a:cubicBezTo>
                  <a:cubicBezTo>
                    <a:pt x="3281" y="1016592"/>
                    <a:pt x="0" y="1008672"/>
                    <a:pt x="0" y="1000413"/>
                  </a:cubicBezTo>
                  <a:lnTo>
                    <a:pt x="0" y="31139"/>
                  </a:lnTo>
                  <a:cubicBezTo>
                    <a:pt x="0" y="22880"/>
                    <a:pt x="3281" y="14960"/>
                    <a:pt x="9120" y="9120"/>
                  </a:cubicBezTo>
                  <a:cubicBezTo>
                    <a:pt x="14960" y="3281"/>
                    <a:pt x="22880" y="0"/>
                    <a:pt x="31139" y="0"/>
                  </a:cubicBezTo>
                  <a:close/>
                </a:path>
              </a:pathLst>
            </a:custGeom>
            <a:solidFill>
              <a:srgbClr val="D1FAE5"/>
            </a:solidFill>
          </p:spPr>
        </p:sp>
        <p:sp>
          <p:nvSpPr>
            <p:cNvPr name="TextBox 4" id="4"/>
            <p:cNvSpPr txBox="true"/>
            <p:nvPr/>
          </p:nvSpPr>
          <p:spPr>
            <a:xfrm>
              <a:off x="0" y="-38100"/>
              <a:ext cx="2357325" cy="1069652"/>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153583" y="4485412"/>
            <a:ext cx="10355808" cy="4530666"/>
          </a:xfrm>
          <a:custGeom>
            <a:avLst/>
            <a:gdLst/>
            <a:ahLst/>
            <a:cxnLst/>
            <a:rect r="r" b="b" t="t" l="l"/>
            <a:pathLst>
              <a:path h="4530666" w="10355808">
                <a:moveTo>
                  <a:pt x="0" y="0"/>
                </a:moveTo>
                <a:lnTo>
                  <a:pt x="10355808" y="0"/>
                </a:lnTo>
                <a:lnTo>
                  <a:pt x="10355808" y="4530666"/>
                </a:lnTo>
                <a:lnTo>
                  <a:pt x="0" y="4530666"/>
                </a:lnTo>
                <a:lnTo>
                  <a:pt x="0" y="0"/>
                </a:lnTo>
                <a:close/>
              </a:path>
            </a:pathLst>
          </a:custGeom>
          <a:blipFill>
            <a:blip r:embed="rId2"/>
            <a:stretch>
              <a:fillRect l="0" t="0" r="0" b="0"/>
            </a:stretch>
          </a:blipFill>
        </p:spPr>
      </p:sp>
      <p:sp>
        <p:nvSpPr>
          <p:cNvPr name="Freeform 6" id="6"/>
          <p:cNvSpPr/>
          <p:nvPr/>
        </p:nvSpPr>
        <p:spPr>
          <a:xfrm flipH="false" flipV="false" rot="0">
            <a:off x="0" y="0"/>
            <a:ext cx="2546351" cy="2546351"/>
          </a:xfrm>
          <a:custGeom>
            <a:avLst/>
            <a:gdLst/>
            <a:ahLst/>
            <a:cxnLst/>
            <a:rect r="r" b="b" t="t" l="l"/>
            <a:pathLst>
              <a:path h="2546351" w="2546351">
                <a:moveTo>
                  <a:pt x="0" y="0"/>
                </a:moveTo>
                <a:lnTo>
                  <a:pt x="2546351" y="0"/>
                </a:lnTo>
                <a:lnTo>
                  <a:pt x="2546351" y="2546351"/>
                </a:lnTo>
                <a:lnTo>
                  <a:pt x="0" y="25463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237525" y="933450"/>
            <a:ext cx="8312264" cy="886341"/>
          </a:xfrm>
          <a:prstGeom prst="rect">
            <a:avLst/>
          </a:prstGeom>
        </p:spPr>
        <p:txBody>
          <a:bodyPr anchor="t" rtlCol="false" tIns="0" lIns="0" bIns="0" rIns="0">
            <a:spAutoFit/>
          </a:bodyPr>
          <a:lstStyle/>
          <a:p>
            <a:pPr algn="l" marL="0" indent="0" lvl="0">
              <a:lnSpc>
                <a:spcPts val="7321"/>
              </a:lnSpc>
            </a:pPr>
            <a:r>
              <a:rPr lang="en-US" b="true" sz="5229">
                <a:solidFill>
                  <a:srgbClr val="1F1F1F"/>
                </a:solidFill>
                <a:latin typeface="Montserrat Bold"/>
                <a:ea typeface="Montserrat Bold"/>
                <a:cs typeface="Montserrat Bold"/>
                <a:sym typeface="Montserrat Bold"/>
              </a:rPr>
              <a:t>Case Study</a:t>
            </a:r>
          </a:p>
        </p:txBody>
      </p:sp>
      <p:sp>
        <p:nvSpPr>
          <p:cNvPr name="TextBox 8" id="8"/>
          <p:cNvSpPr txBox="true"/>
          <p:nvPr/>
        </p:nvSpPr>
        <p:spPr>
          <a:xfrm rot="0">
            <a:off x="8619884" y="2098735"/>
            <a:ext cx="7929906" cy="886341"/>
          </a:xfrm>
          <a:prstGeom prst="rect">
            <a:avLst/>
          </a:prstGeom>
        </p:spPr>
        <p:txBody>
          <a:bodyPr anchor="t" rtlCol="false" tIns="0" lIns="0" bIns="0" rIns="0">
            <a:spAutoFit/>
          </a:bodyPr>
          <a:lstStyle/>
          <a:p>
            <a:pPr algn="l" marL="0" indent="0" lvl="0">
              <a:lnSpc>
                <a:spcPts val="7321"/>
              </a:lnSpc>
            </a:pPr>
            <a:r>
              <a:rPr lang="en-US" b="true" sz="5229">
                <a:solidFill>
                  <a:srgbClr val="10B981"/>
                </a:solidFill>
                <a:latin typeface="Montserrat Bold"/>
                <a:ea typeface="Montserrat Bold"/>
                <a:cs typeface="Montserrat Bold"/>
                <a:sym typeface="Montserrat Bold"/>
              </a:rPr>
              <a:t>Smart Factory Success</a:t>
            </a:r>
          </a:p>
        </p:txBody>
      </p:sp>
      <p:sp>
        <p:nvSpPr>
          <p:cNvPr name="TextBox 9" id="9"/>
          <p:cNvSpPr txBox="true"/>
          <p:nvPr/>
        </p:nvSpPr>
        <p:spPr>
          <a:xfrm rot="0">
            <a:off x="9043863" y="5979162"/>
            <a:ext cx="7359449" cy="2325440"/>
          </a:xfrm>
          <a:prstGeom prst="rect">
            <a:avLst/>
          </a:prstGeom>
        </p:spPr>
        <p:txBody>
          <a:bodyPr anchor="t" rtlCol="false" tIns="0" lIns="0" bIns="0" rIns="0">
            <a:spAutoFit/>
          </a:bodyPr>
          <a:lstStyle/>
          <a:p>
            <a:pPr algn="l" marL="0" indent="0" lvl="0">
              <a:lnSpc>
                <a:spcPts val="3076"/>
              </a:lnSpc>
              <a:spcBef>
                <a:spcPct val="0"/>
              </a:spcBef>
            </a:pPr>
            <a:r>
              <a:rPr lang="en-US" sz="2197">
                <a:solidFill>
                  <a:srgbClr val="6B7280"/>
                </a:solidFill>
                <a:latin typeface="Inter"/>
                <a:ea typeface="Inter"/>
                <a:cs typeface="Inter"/>
                <a:sym typeface="Inter"/>
              </a:rPr>
              <a:t>A leading automotive manufacturer implemented IoT sensors across their production line, connecting 500+ machines to a central monitoring system. Real-time data analytics enabled predictive maintenance and optimized workflows, resulting in a 40% efficiency improvement, 35% reduction in downtime, and $2.5M annual savings.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1028700" y="6178452"/>
            <a:ext cx="7882440" cy="3079848"/>
            <a:chOff x="0" y="0"/>
            <a:chExt cx="2076034" cy="811153"/>
          </a:xfrm>
        </p:grpSpPr>
        <p:sp>
          <p:nvSpPr>
            <p:cNvPr name="Freeform 3" id="3"/>
            <p:cNvSpPr/>
            <p:nvPr/>
          </p:nvSpPr>
          <p:spPr>
            <a:xfrm flipH="false" flipV="false" rot="0">
              <a:off x="0" y="0"/>
              <a:ext cx="2076034" cy="811153"/>
            </a:xfrm>
            <a:custGeom>
              <a:avLst/>
              <a:gdLst/>
              <a:ahLst/>
              <a:cxnLst/>
              <a:rect r="r" b="b" t="t" l="l"/>
              <a:pathLst>
                <a:path h="811153" w="2076034">
                  <a:moveTo>
                    <a:pt x="35358" y="0"/>
                  </a:moveTo>
                  <a:lnTo>
                    <a:pt x="2040675" y="0"/>
                  </a:lnTo>
                  <a:cubicBezTo>
                    <a:pt x="2060203" y="0"/>
                    <a:pt x="2076034" y="15830"/>
                    <a:pt x="2076034" y="35358"/>
                  </a:cubicBezTo>
                  <a:lnTo>
                    <a:pt x="2076034" y="775795"/>
                  </a:lnTo>
                  <a:cubicBezTo>
                    <a:pt x="2076034" y="795323"/>
                    <a:pt x="2060203" y="811153"/>
                    <a:pt x="2040675" y="811153"/>
                  </a:cubicBezTo>
                  <a:lnTo>
                    <a:pt x="35358" y="811153"/>
                  </a:lnTo>
                  <a:cubicBezTo>
                    <a:pt x="15830" y="811153"/>
                    <a:pt x="0" y="795323"/>
                    <a:pt x="0" y="775795"/>
                  </a:cubicBezTo>
                  <a:lnTo>
                    <a:pt x="0" y="35358"/>
                  </a:lnTo>
                  <a:cubicBezTo>
                    <a:pt x="0" y="15830"/>
                    <a:pt x="15830" y="0"/>
                    <a:pt x="35358" y="0"/>
                  </a:cubicBezTo>
                  <a:close/>
                </a:path>
              </a:pathLst>
            </a:custGeom>
            <a:solidFill>
              <a:srgbClr val="D1FAE5"/>
            </a:solidFill>
          </p:spPr>
        </p:sp>
        <p:sp>
          <p:nvSpPr>
            <p:cNvPr name="TextBox 4" id="4"/>
            <p:cNvSpPr txBox="true"/>
            <p:nvPr/>
          </p:nvSpPr>
          <p:spPr>
            <a:xfrm>
              <a:off x="0" y="-38100"/>
              <a:ext cx="2076034" cy="849253"/>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11392454" y="4422574"/>
            <a:ext cx="6500113" cy="4810083"/>
          </a:xfrm>
          <a:custGeom>
            <a:avLst/>
            <a:gdLst/>
            <a:ahLst/>
            <a:cxnLst/>
            <a:rect r="r" b="b" t="t" l="l"/>
            <a:pathLst>
              <a:path h="4810083" w="6500113">
                <a:moveTo>
                  <a:pt x="0" y="0"/>
                </a:moveTo>
                <a:lnTo>
                  <a:pt x="6500112" y="0"/>
                </a:lnTo>
                <a:lnTo>
                  <a:pt x="6500112" y="4810084"/>
                </a:lnTo>
                <a:lnTo>
                  <a:pt x="0" y="4810084"/>
                </a:lnTo>
                <a:lnTo>
                  <a:pt x="0" y="0"/>
                </a:lnTo>
                <a:close/>
              </a:path>
            </a:pathLst>
          </a:custGeom>
          <a:blipFill>
            <a:blip r:embed="rId2"/>
            <a:stretch>
              <a:fillRect l="0" t="0" r="0" b="0"/>
            </a:stretch>
          </a:blipFill>
        </p:spPr>
      </p:sp>
      <p:sp>
        <p:nvSpPr>
          <p:cNvPr name="Freeform 6" id="6"/>
          <p:cNvSpPr/>
          <p:nvPr/>
        </p:nvSpPr>
        <p:spPr>
          <a:xfrm flipH="false" flipV="false" rot="0">
            <a:off x="9972470" y="4102946"/>
            <a:ext cx="1727708" cy="1722948"/>
          </a:xfrm>
          <a:custGeom>
            <a:avLst/>
            <a:gdLst/>
            <a:ahLst/>
            <a:cxnLst/>
            <a:rect r="r" b="b" t="t" l="l"/>
            <a:pathLst>
              <a:path h="1722948" w="1727708">
                <a:moveTo>
                  <a:pt x="0" y="0"/>
                </a:moveTo>
                <a:lnTo>
                  <a:pt x="1727708" y="0"/>
                </a:lnTo>
                <a:lnTo>
                  <a:pt x="1727708" y="1722948"/>
                </a:lnTo>
                <a:lnTo>
                  <a:pt x="0" y="1722948"/>
                </a:lnTo>
                <a:lnTo>
                  <a:pt x="0" y="0"/>
                </a:lnTo>
                <a:close/>
              </a:path>
            </a:pathLst>
          </a:custGeom>
          <a:blipFill>
            <a:blip r:embed="rId3"/>
            <a:stretch>
              <a:fillRect l="0" t="0" r="0" b="0"/>
            </a:stretch>
          </a:blipFill>
        </p:spPr>
      </p:sp>
      <p:sp>
        <p:nvSpPr>
          <p:cNvPr name="Freeform 7" id="7"/>
          <p:cNvSpPr/>
          <p:nvPr/>
        </p:nvSpPr>
        <p:spPr>
          <a:xfrm flipH="false" flipV="false" rot="0">
            <a:off x="10436732" y="4646458"/>
            <a:ext cx="877951" cy="646844"/>
          </a:xfrm>
          <a:custGeom>
            <a:avLst/>
            <a:gdLst/>
            <a:ahLst/>
            <a:cxnLst/>
            <a:rect r="r" b="b" t="t" l="l"/>
            <a:pathLst>
              <a:path h="646844" w="877951">
                <a:moveTo>
                  <a:pt x="0" y="0"/>
                </a:moveTo>
                <a:lnTo>
                  <a:pt x="877952" y="0"/>
                </a:lnTo>
                <a:lnTo>
                  <a:pt x="877952" y="646843"/>
                </a:lnTo>
                <a:lnTo>
                  <a:pt x="0" y="646843"/>
                </a:lnTo>
                <a:lnTo>
                  <a:pt x="0" y="0"/>
                </a:lnTo>
                <a:close/>
              </a:path>
            </a:pathLst>
          </a:custGeom>
          <a:blipFill>
            <a:blip r:embed="rId4"/>
            <a:stretch>
              <a:fillRect l="0" t="0" r="0" b="0"/>
            </a:stretch>
          </a:blipFill>
        </p:spPr>
      </p:sp>
      <p:sp>
        <p:nvSpPr>
          <p:cNvPr name="Freeform 8" id="8"/>
          <p:cNvSpPr/>
          <p:nvPr/>
        </p:nvSpPr>
        <p:spPr>
          <a:xfrm flipH="false" flipV="false" rot="0">
            <a:off x="11834834" y="-156844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028700" y="847725"/>
            <a:ext cx="7882440" cy="1698805"/>
          </a:xfrm>
          <a:prstGeom prst="rect">
            <a:avLst/>
          </a:prstGeom>
        </p:spPr>
        <p:txBody>
          <a:bodyPr anchor="t" rtlCol="false" tIns="0" lIns="0" bIns="0" rIns="0">
            <a:spAutoFit/>
          </a:bodyPr>
          <a:lstStyle/>
          <a:p>
            <a:pPr algn="l" marL="0" indent="0" lvl="0">
              <a:lnSpc>
                <a:spcPts val="13990"/>
              </a:lnSpc>
            </a:pPr>
            <a:r>
              <a:rPr lang="en-US" b="true" sz="9992">
                <a:solidFill>
                  <a:srgbClr val="1F1F1F"/>
                </a:solidFill>
                <a:latin typeface="Montserrat Bold"/>
                <a:ea typeface="Montserrat Bold"/>
                <a:cs typeface="Montserrat Bold"/>
                <a:sym typeface="Montserrat Bold"/>
              </a:rPr>
              <a:t>Emerging</a:t>
            </a:r>
          </a:p>
        </p:txBody>
      </p:sp>
      <p:sp>
        <p:nvSpPr>
          <p:cNvPr name="TextBox 10" id="10"/>
          <p:cNvSpPr txBox="true"/>
          <p:nvPr/>
        </p:nvSpPr>
        <p:spPr>
          <a:xfrm rot="0">
            <a:off x="1774257" y="1985897"/>
            <a:ext cx="7136884" cy="1698805"/>
          </a:xfrm>
          <a:prstGeom prst="rect">
            <a:avLst/>
          </a:prstGeom>
        </p:spPr>
        <p:txBody>
          <a:bodyPr anchor="t" rtlCol="false" tIns="0" lIns="0" bIns="0" rIns="0">
            <a:spAutoFit/>
          </a:bodyPr>
          <a:lstStyle/>
          <a:p>
            <a:pPr algn="l" marL="0" indent="0" lvl="0">
              <a:lnSpc>
                <a:spcPts val="13990"/>
              </a:lnSpc>
            </a:pPr>
            <a:r>
              <a:rPr lang="en-US" b="true" sz="9992">
                <a:solidFill>
                  <a:srgbClr val="10B981"/>
                </a:solidFill>
                <a:latin typeface="Montserrat Bold"/>
                <a:ea typeface="Montserrat Bold"/>
                <a:cs typeface="Montserrat Bold"/>
                <a:sym typeface="Montserrat Bold"/>
              </a:rPr>
              <a:t>Trends</a:t>
            </a:r>
          </a:p>
        </p:txBody>
      </p:sp>
      <p:sp>
        <p:nvSpPr>
          <p:cNvPr name="TextBox 11" id="11"/>
          <p:cNvSpPr txBox="true"/>
          <p:nvPr/>
        </p:nvSpPr>
        <p:spPr>
          <a:xfrm rot="0">
            <a:off x="1561324" y="6616651"/>
            <a:ext cx="6817193" cy="2157313"/>
          </a:xfrm>
          <a:prstGeom prst="rect">
            <a:avLst/>
          </a:prstGeom>
        </p:spPr>
        <p:txBody>
          <a:bodyPr anchor="t" rtlCol="false" tIns="0" lIns="0" bIns="0" rIns="0">
            <a:spAutoFit/>
          </a:bodyPr>
          <a:lstStyle/>
          <a:p>
            <a:pPr algn="l" marL="0" indent="0" lvl="0">
              <a:lnSpc>
                <a:spcPts val="2892"/>
              </a:lnSpc>
              <a:spcBef>
                <a:spcPct val="0"/>
              </a:spcBef>
            </a:pPr>
            <a:r>
              <a:rPr lang="en-US" sz="2066">
                <a:solidFill>
                  <a:srgbClr val="6B7280"/>
                </a:solidFill>
                <a:latin typeface="Inter"/>
                <a:ea typeface="Inter"/>
                <a:cs typeface="Inter"/>
                <a:sym typeface="Inter"/>
              </a:rPr>
              <a:t>The future of Industrial IoT is shaped by three transformative technologies: AI integration enables predictive analytics and autonomous decision-making. Digital Twins create virtual replicas for simulation and optimization. 5G connectivity delivers ultra-low latency and massive device support for real-time control.</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7458603" y="6178452"/>
            <a:ext cx="8950467" cy="3079848"/>
            <a:chOff x="0" y="0"/>
            <a:chExt cx="2357325" cy="811153"/>
          </a:xfrm>
        </p:grpSpPr>
        <p:sp>
          <p:nvSpPr>
            <p:cNvPr name="Freeform 3" id="3"/>
            <p:cNvSpPr/>
            <p:nvPr/>
          </p:nvSpPr>
          <p:spPr>
            <a:xfrm flipH="false" flipV="false" rot="0">
              <a:off x="0" y="0"/>
              <a:ext cx="2357325" cy="811153"/>
            </a:xfrm>
            <a:custGeom>
              <a:avLst/>
              <a:gdLst/>
              <a:ahLst/>
              <a:cxnLst/>
              <a:rect r="r" b="b" t="t" l="l"/>
              <a:pathLst>
                <a:path h="811153" w="2357325">
                  <a:moveTo>
                    <a:pt x="31139" y="0"/>
                  </a:moveTo>
                  <a:lnTo>
                    <a:pt x="2326186" y="0"/>
                  </a:lnTo>
                  <a:cubicBezTo>
                    <a:pt x="2334444" y="0"/>
                    <a:pt x="2342365" y="3281"/>
                    <a:pt x="2348204" y="9120"/>
                  </a:cubicBezTo>
                  <a:cubicBezTo>
                    <a:pt x="2354044" y="14960"/>
                    <a:pt x="2357325" y="22880"/>
                    <a:pt x="2357325" y="31139"/>
                  </a:cubicBezTo>
                  <a:lnTo>
                    <a:pt x="2357325" y="780014"/>
                  </a:lnTo>
                  <a:cubicBezTo>
                    <a:pt x="2357325" y="788273"/>
                    <a:pt x="2354044" y="796193"/>
                    <a:pt x="2348204" y="802033"/>
                  </a:cubicBezTo>
                  <a:cubicBezTo>
                    <a:pt x="2342365" y="807873"/>
                    <a:pt x="2334444" y="811153"/>
                    <a:pt x="2326186" y="811153"/>
                  </a:cubicBezTo>
                  <a:lnTo>
                    <a:pt x="31139" y="811153"/>
                  </a:lnTo>
                  <a:cubicBezTo>
                    <a:pt x="22880" y="811153"/>
                    <a:pt x="14960" y="807873"/>
                    <a:pt x="9120" y="802033"/>
                  </a:cubicBezTo>
                  <a:cubicBezTo>
                    <a:pt x="3281" y="796193"/>
                    <a:pt x="0" y="788273"/>
                    <a:pt x="0" y="780014"/>
                  </a:cubicBezTo>
                  <a:lnTo>
                    <a:pt x="0" y="31139"/>
                  </a:lnTo>
                  <a:cubicBezTo>
                    <a:pt x="0" y="22880"/>
                    <a:pt x="3281" y="14960"/>
                    <a:pt x="9120" y="9120"/>
                  </a:cubicBezTo>
                  <a:cubicBezTo>
                    <a:pt x="14960" y="3281"/>
                    <a:pt x="22880" y="0"/>
                    <a:pt x="31139" y="0"/>
                  </a:cubicBezTo>
                  <a:close/>
                </a:path>
              </a:pathLst>
            </a:custGeom>
            <a:solidFill>
              <a:srgbClr val="D1FAE5"/>
            </a:solidFill>
          </p:spPr>
        </p:sp>
        <p:sp>
          <p:nvSpPr>
            <p:cNvPr name="TextBox 4" id="4"/>
            <p:cNvSpPr txBox="true"/>
            <p:nvPr/>
          </p:nvSpPr>
          <p:spPr>
            <a:xfrm>
              <a:off x="0" y="-38100"/>
              <a:ext cx="2357325" cy="849253"/>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524045" y="415333"/>
            <a:ext cx="1827311" cy="1872617"/>
          </a:xfrm>
          <a:custGeom>
            <a:avLst/>
            <a:gdLst/>
            <a:ahLst/>
            <a:cxnLst/>
            <a:rect r="r" b="b" t="t" l="l"/>
            <a:pathLst>
              <a:path h="1872617" w="1827311">
                <a:moveTo>
                  <a:pt x="0" y="0"/>
                </a:moveTo>
                <a:lnTo>
                  <a:pt x="1827311" y="0"/>
                </a:lnTo>
                <a:lnTo>
                  <a:pt x="1827311" y="1872617"/>
                </a:lnTo>
                <a:lnTo>
                  <a:pt x="0" y="1872617"/>
                </a:lnTo>
                <a:lnTo>
                  <a:pt x="0" y="0"/>
                </a:lnTo>
                <a:close/>
              </a:path>
            </a:pathLst>
          </a:custGeom>
          <a:blipFill>
            <a:blip r:embed="rId2"/>
            <a:stretch>
              <a:fillRect l="0" t="0" r="0" b="0"/>
            </a:stretch>
          </a:blipFill>
        </p:spPr>
      </p:sp>
      <p:sp>
        <p:nvSpPr>
          <p:cNvPr name="Freeform 6" id="6"/>
          <p:cNvSpPr/>
          <p:nvPr/>
        </p:nvSpPr>
        <p:spPr>
          <a:xfrm flipH="false" flipV="false" rot="0">
            <a:off x="1171455" y="3848627"/>
            <a:ext cx="5322784" cy="5754361"/>
          </a:xfrm>
          <a:custGeom>
            <a:avLst/>
            <a:gdLst/>
            <a:ahLst/>
            <a:cxnLst/>
            <a:rect r="r" b="b" t="t" l="l"/>
            <a:pathLst>
              <a:path h="5754361" w="5322784">
                <a:moveTo>
                  <a:pt x="0" y="0"/>
                </a:moveTo>
                <a:lnTo>
                  <a:pt x="5322784" y="0"/>
                </a:lnTo>
                <a:lnTo>
                  <a:pt x="5322784" y="5754361"/>
                </a:lnTo>
                <a:lnTo>
                  <a:pt x="0" y="5754361"/>
                </a:lnTo>
                <a:lnTo>
                  <a:pt x="0" y="0"/>
                </a:lnTo>
                <a:close/>
              </a:path>
            </a:pathLst>
          </a:custGeom>
          <a:blipFill>
            <a:blip r:embed="rId3"/>
            <a:stretch>
              <a:fillRect l="0" t="0" r="0" b="0"/>
            </a:stretch>
          </a:blipFill>
        </p:spPr>
      </p:sp>
      <p:sp>
        <p:nvSpPr>
          <p:cNvPr name="TextBox 7" id="7"/>
          <p:cNvSpPr txBox="true"/>
          <p:nvPr/>
        </p:nvSpPr>
        <p:spPr>
          <a:xfrm rot="0">
            <a:off x="7458603" y="847725"/>
            <a:ext cx="9238080" cy="1567676"/>
          </a:xfrm>
          <a:prstGeom prst="rect">
            <a:avLst/>
          </a:prstGeom>
        </p:spPr>
        <p:txBody>
          <a:bodyPr anchor="t" rtlCol="false" tIns="0" lIns="0" bIns="0" rIns="0">
            <a:spAutoFit/>
          </a:bodyPr>
          <a:lstStyle/>
          <a:p>
            <a:pPr algn="l" marL="0" indent="0" lvl="0">
              <a:lnSpc>
                <a:spcPts val="12817"/>
              </a:lnSpc>
            </a:pPr>
            <a:r>
              <a:rPr lang="en-US" b="true" sz="9155">
                <a:solidFill>
                  <a:srgbClr val="1F1F1F"/>
                </a:solidFill>
                <a:latin typeface="Montserrat Bold"/>
                <a:ea typeface="Montserrat Bold"/>
                <a:cs typeface="Montserrat Bold"/>
                <a:sym typeface="Montserrat Bold"/>
              </a:rPr>
              <a:t>Key Takeaways</a:t>
            </a:r>
          </a:p>
        </p:txBody>
      </p:sp>
      <p:sp>
        <p:nvSpPr>
          <p:cNvPr name="TextBox 8" id="8"/>
          <p:cNvSpPr txBox="true"/>
          <p:nvPr/>
        </p:nvSpPr>
        <p:spPr>
          <a:xfrm rot="0">
            <a:off x="8254112" y="6616651"/>
            <a:ext cx="7359449" cy="2157313"/>
          </a:xfrm>
          <a:prstGeom prst="rect">
            <a:avLst/>
          </a:prstGeom>
        </p:spPr>
        <p:txBody>
          <a:bodyPr anchor="t" rtlCol="false" tIns="0" lIns="0" bIns="0" rIns="0">
            <a:spAutoFit/>
          </a:bodyPr>
          <a:lstStyle/>
          <a:p>
            <a:pPr algn="l" marL="0" indent="0" lvl="0">
              <a:lnSpc>
                <a:spcPts val="2892"/>
              </a:lnSpc>
              <a:spcBef>
                <a:spcPct val="0"/>
              </a:spcBef>
            </a:pPr>
            <a:r>
              <a:rPr lang="en-US" sz="2066">
                <a:solidFill>
                  <a:srgbClr val="6B7280"/>
                </a:solidFill>
                <a:latin typeface="Inter"/>
                <a:ea typeface="Inter"/>
                <a:cs typeface="Inter"/>
                <a:sym typeface="Inter"/>
              </a:rPr>
              <a:t>IoT is revolutionizing industrial control systems by enabling real-time monitoring, predictive maintenance, and seamless automation. Through connected sensors, edge computing, and data analytics, manufacturers achieve unprecedented efficiency, reduced downtime, and smarter decision-making across operations.</a:t>
            </a:r>
          </a:p>
        </p:txBody>
      </p:sp>
      <p:sp>
        <p:nvSpPr>
          <p:cNvPr name="Freeform 9" id="9"/>
          <p:cNvSpPr/>
          <p:nvPr/>
        </p:nvSpPr>
        <p:spPr>
          <a:xfrm flipH="false" flipV="false" rot="0">
            <a:off x="6888477" y="3807229"/>
            <a:ext cx="1331505" cy="1317321"/>
          </a:xfrm>
          <a:custGeom>
            <a:avLst/>
            <a:gdLst/>
            <a:ahLst/>
            <a:cxnLst/>
            <a:rect r="r" b="b" t="t" l="l"/>
            <a:pathLst>
              <a:path h="1317321" w="1331505">
                <a:moveTo>
                  <a:pt x="0" y="0"/>
                </a:moveTo>
                <a:lnTo>
                  <a:pt x="1331505" y="0"/>
                </a:lnTo>
                <a:lnTo>
                  <a:pt x="1331505" y="1317321"/>
                </a:lnTo>
                <a:lnTo>
                  <a:pt x="0" y="1317321"/>
                </a:lnTo>
                <a:lnTo>
                  <a:pt x="0" y="0"/>
                </a:lnTo>
                <a:close/>
              </a:path>
            </a:pathLst>
          </a:custGeom>
          <a:blipFill>
            <a:blip r:embed="rId4"/>
            <a:stretch>
              <a:fillRect l="0" t="0" r="0" b="0"/>
            </a:stretch>
          </a:blipFill>
        </p:spPr>
      </p:sp>
      <p:sp>
        <p:nvSpPr>
          <p:cNvPr name="Freeform 10" id="10"/>
          <p:cNvSpPr/>
          <p:nvPr/>
        </p:nvSpPr>
        <p:spPr>
          <a:xfrm flipH="false" flipV="false" rot="0">
            <a:off x="7300571" y="4193264"/>
            <a:ext cx="571244" cy="654942"/>
          </a:xfrm>
          <a:custGeom>
            <a:avLst/>
            <a:gdLst/>
            <a:ahLst/>
            <a:cxnLst/>
            <a:rect r="r" b="b" t="t" l="l"/>
            <a:pathLst>
              <a:path h="654942" w="571244">
                <a:moveTo>
                  <a:pt x="0" y="0"/>
                </a:moveTo>
                <a:lnTo>
                  <a:pt x="571244" y="0"/>
                </a:lnTo>
                <a:lnTo>
                  <a:pt x="571244" y="654943"/>
                </a:lnTo>
                <a:lnTo>
                  <a:pt x="0" y="654943"/>
                </a:lnTo>
                <a:lnTo>
                  <a:pt x="0" y="0"/>
                </a:lnTo>
                <a:close/>
              </a:path>
            </a:pathLst>
          </a:custGeom>
          <a:blipFill>
            <a:blip r:embed="rId5"/>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sp>
        <p:nvSpPr>
          <p:cNvPr name="Freeform 2" id="2"/>
          <p:cNvSpPr/>
          <p:nvPr/>
        </p:nvSpPr>
        <p:spPr>
          <a:xfrm flipH="false" flipV="false" rot="0">
            <a:off x="1010489" y="1013107"/>
            <a:ext cx="613223" cy="594729"/>
          </a:xfrm>
          <a:custGeom>
            <a:avLst/>
            <a:gdLst/>
            <a:ahLst/>
            <a:cxnLst/>
            <a:rect r="r" b="b" t="t" l="l"/>
            <a:pathLst>
              <a:path h="594729" w="613223">
                <a:moveTo>
                  <a:pt x="0" y="0"/>
                </a:moveTo>
                <a:lnTo>
                  <a:pt x="613223" y="0"/>
                </a:lnTo>
                <a:lnTo>
                  <a:pt x="613223" y="594729"/>
                </a:lnTo>
                <a:lnTo>
                  <a:pt x="0" y="594729"/>
                </a:lnTo>
                <a:lnTo>
                  <a:pt x="0" y="0"/>
                </a:lnTo>
                <a:close/>
              </a:path>
            </a:pathLst>
          </a:custGeom>
          <a:blipFill>
            <a:blip r:embed="rId2"/>
            <a:stretch>
              <a:fillRect l="0" t="0" r="0" b="0"/>
            </a:stretch>
          </a:blipFill>
        </p:spPr>
      </p:sp>
      <p:sp>
        <p:nvSpPr>
          <p:cNvPr name="Freeform 3" id="3"/>
          <p:cNvSpPr/>
          <p:nvPr/>
        </p:nvSpPr>
        <p:spPr>
          <a:xfrm flipH="false" flipV="false" rot="0">
            <a:off x="7905007" y="1028700"/>
            <a:ext cx="3776383" cy="3055437"/>
          </a:xfrm>
          <a:custGeom>
            <a:avLst/>
            <a:gdLst/>
            <a:ahLst/>
            <a:cxnLst/>
            <a:rect r="r" b="b" t="t" l="l"/>
            <a:pathLst>
              <a:path h="3055437" w="3776383">
                <a:moveTo>
                  <a:pt x="0" y="0"/>
                </a:moveTo>
                <a:lnTo>
                  <a:pt x="3776383" y="0"/>
                </a:lnTo>
                <a:lnTo>
                  <a:pt x="3776383" y="3055437"/>
                </a:lnTo>
                <a:lnTo>
                  <a:pt x="0" y="30554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731233" y="2593809"/>
            <a:ext cx="6208347" cy="5522959"/>
          </a:xfrm>
          <a:custGeom>
            <a:avLst/>
            <a:gdLst/>
            <a:ahLst/>
            <a:cxnLst/>
            <a:rect r="r" b="b" t="t" l="l"/>
            <a:pathLst>
              <a:path h="5522959" w="6208347">
                <a:moveTo>
                  <a:pt x="0" y="0"/>
                </a:moveTo>
                <a:lnTo>
                  <a:pt x="6208347" y="0"/>
                </a:lnTo>
                <a:lnTo>
                  <a:pt x="6208347" y="5522959"/>
                </a:lnTo>
                <a:lnTo>
                  <a:pt x="0" y="5522959"/>
                </a:lnTo>
                <a:lnTo>
                  <a:pt x="0" y="0"/>
                </a:lnTo>
                <a:close/>
              </a:path>
            </a:pathLst>
          </a:custGeom>
          <a:blipFill>
            <a:blip r:embed="rId5"/>
            <a:stretch>
              <a:fillRect l="0" t="0" r="0" b="0"/>
            </a:stretch>
          </a:blipFill>
        </p:spPr>
      </p:sp>
      <p:sp>
        <p:nvSpPr>
          <p:cNvPr name="TextBox 5" id="5"/>
          <p:cNvSpPr txBox="true"/>
          <p:nvPr/>
        </p:nvSpPr>
        <p:spPr>
          <a:xfrm rot="0">
            <a:off x="1028700" y="2805793"/>
            <a:ext cx="8312264" cy="2222733"/>
          </a:xfrm>
          <a:prstGeom prst="rect">
            <a:avLst/>
          </a:prstGeom>
        </p:spPr>
        <p:txBody>
          <a:bodyPr anchor="t" rtlCol="false" tIns="0" lIns="0" bIns="0" rIns="0">
            <a:spAutoFit/>
          </a:bodyPr>
          <a:lstStyle/>
          <a:p>
            <a:pPr algn="l" marL="0" indent="0" lvl="0">
              <a:lnSpc>
                <a:spcPts val="18187"/>
              </a:lnSpc>
            </a:pPr>
            <a:r>
              <a:rPr lang="en-US" b="true" sz="12990">
                <a:solidFill>
                  <a:srgbClr val="1F1F1F"/>
                </a:solidFill>
                <a:latin typeface="Montserrat Bold"/>
                <a:ea typeface="Montserrat Bold"/>
                <a:cs typeface="Montserrat Bold"/>
                <a:sym typeface="Montserrat Bold"/>
              </a:rPr>
              <a:t>Thank</a:t>
            </a:r>
          </a:p>
        </p:txBody>
      </p:sp>
      <p:sp>
        <p:nvSpPr>
          <p:cNvPr name="TextBox 6" id="6"/>
          <p:cNvSpPr txBox="true"/>
          <p:nvPr/>
        </p:nvSpPr>
        <p:spPr>
          <a:xfrm rot="0">
            <a:off x="1028700" y="4383458"/>
            <a:ext cx="9389750" cy="2222733"/>
          </a:xfrm>
          <a:prstGeom prst="rect">
            <a:avLst/>
          </a:prstGeom>
        </p:spPr>
        <p:txBody>
          <a:bodyPr anchor="t" rtlCol="false" tIns="0" lIns="0" bIns="0" rIns="0">
            <a:spAutoFit/>
          </a:bodyPr>
          <a:lstStyle/>
          <a:p>
            <a:pPr algn="l" marL="0" indent="0" lvl="0">
              <a:lnSpc>
                <a:spcPts val="18187"/>
              </a:lnSpc>
            </a:pPr>
            <a:r>
              <a:rPr lang="en-US" b="true" sz="12990">
                <a:solidFill>
                  <a:srgbClr val="10B981"/>
                </a:solidFill>
                <a:latin typeface="Montserrat Bold"/>
                <a:ea typeface="Montserrat Bold"/>
                <a:cs typeface="Montserrat Bold"/>
                <a:sym typeface="Montserrat Bold"/>
              </a:rPr>
              <a:t>You</a:t>
            </a:r>
          </a:p>
        </p:txBody>
      </p:sp>
      <p:sp>
        <p:nvSpPr>
          <p:cNvPr name="TextBox 7" id="7"/>
          <p:cNvSpPr txBox="true"/>
          <p:nvPr/>
        </p:nvSpPr>
        <p:spPr>
          <a:xfrm rot="0">
            <a:off x="1822537" y="1091366"/>
            <a:ext cx="3901038" cy="412795"/>
          </a:xfrm>
          <a:prstGeom prst="rect">
            <a:avLst/>
          </a:prstGeom>
        </p:spPr>
        <p:txBody>
          <a:bodyPr anchor="t" rtlCol="false" tIns="0" lIns="0" bIns="0" rIns="0">
            <a:spAutoFit/>
          </a:bodyPr>
          <a:lstStyle/>
          <a:p>
            <a:pPr algn="l" marL="0" indent="0" lvl="0">
              <a:lnSpc>
                <a:spcPts val="3497"/>
              </a:lnSpc>
              <a:spcBef>
                <a:spcPct val="0"/>
              </a:spcBef>
            </a:pPr>
            <a:r>
              <a:rPr lang="en-US" sz="2498">
                <a:solidFill>
                  <a:srgbClr val="6B7280"/>
                </a:solidFill>
                <a:latin typeface="Inter"/>
                <a:ea typeface="Inter"/>
                <a:cs typeface="Inter"/>
                <a:sym typeface="Inter"/>
              </a:rPr>
              <a:t>Industrial IoT Solutions</a:t>
            </a:r>
          </a:p>
        </p:txBody>
      </p:sp>
      <p:sp>
        <p:nvSpPr>
          <p:cNvPr name="TextBox 8" id="8"/>
          <p:cNvSpPr txBox="true"/>
          <p:nvPr/>
        </p:nvSpPr>
        <p:spPr>
          <a:xfrm rot="0">
            <a:off x="1028700" y="6820807"/>
            <a:ext cx="7359449" cy="412795"/>
          </a:xfrm>
          <a:prstGeom prst="rect">
            <a:avLst/>
          </a:prstGeom>
        </p:spPr>
        <p:txBody>
          <a:bodyPr anchor="t" rtlCol="false" tIns="0" lIns="0" bIns="0" rIns="0">
            <a:spAutoFit/>
          </a:bodyPr>
          <a:lstStyle/>
          <a:p>
            <a:pPr algn="l" marL="0" indent="0" lvl="0">
              <a:lnSpc>
                <a:spcPts val="3497"/>
              </a:lnSpc>
              <a:spcBef>
                <a:spcPct val="0"/>
              </a:spcBef>
            </a:pPr>
            <a:r>
              <a:rPr lang="en-US" sz="2498" i="true">
                <a:solidFill>
                  <a:srgbClr val="6B7280"/>
                </a:solidFill>
                <a:latin typeface="Inter Italics"/>
                <a:ea typeface="Inter Italics"/>
                <a:cs typeface="Inter Italics"/>
                <a:sym typeface="Inter Italics"/>
              </a:rPr>
              <a:t>Questions? Let's discuss Industrial IoT</a:t>
            </a:r>
          </a:p>
        </p:txBody>
      </p:sp>
      <p:sp>
        <p:nvSpPr>
          <p:cNvPr name="TextBox 9" id="9"/>
          <p:cNvSpPr txBox="true"/>
          <p:nvPr/>
        </p:nvSpPr>
        <p:spPr>
          <a:xfrm rot="0">
            <a:off x="1822537" y="8748032"/>
            <a:ext cx="4423521" cy="412795"/>
          </a:xfrm>
          <a:prstGeom prst="rect">
            <a:avLst/>
          </a:prstGeom>
        </p:spPr>
        <p:txBody>
          <a:bodyPr anchor="t" rtlCol="false" tIns="0" lIns="0" bIns="0" rIns="0">
            <a:spAutoFit/>
          </a:bodyPr>
          <a:lstStyle/>
          <a:p>
            <a:pPr algn="l" marL="0" indent="0" lvl="0">
              <a:lnSpc>
                <a:spcPts val="3497"/>
              </a:lnSpc>
              <a:spcBef>
                <a:spcPct val="0"/>
              </a:spcBef>
            </a:pPr>
            <a:r>
              <a:rPr lang="en-US" b="true" sz="2498">
                <a:solidFill>
                  <a:srgbClr val="6B7280"/>
                </a:solidFill>
                <a:latin typeface="Inter Bold"/>
                <a:ea typeface="Inter Bold"/>
                <a:cs typeface="Inter Bold"/>
                <a:sym typeface="Inter Bold"/>
              </a:rPr>
              <a:t>www.industrialiot.com</a:t>
            </a:r>
          </a:p>
        </p:txBody>
      </p:sp>
      <p:sp>
        <p:nvSpPr>
          <p:cNvPr name="Freeform 10" id="10"/>
          <p:cNvSpPr/>
          <p:nvPr/>
        </p:nvSpPr>
        <p:spPr>
          <a:xfrm flipH="false" flipV="false" rot="0">
            <a:off x="1019088" y="8669301"/>
            <a:ext cx="596897" cy="786685"/>
          </a:xfrm>
          <a:custGeom>
            <a:avLst/>
            <a:gdLst/>
            <a:ahLst/>
            <a:cxnLst/>
            <a:rect r="r" b="b" t="t" l="l"/>
            <a:pathLst>
              <a:path h="786685" w="596897">
                <a:moveTo>
                  <a:pt x="0" y="0"/>
                </a:moveTo>
                <a:lnTo>
                  <a:pt x="596898" y="0"/>
                </a:lnTo>
                <a:lnTo>
                  <a:pt x="596898" y="786685"/>
                </a:lnTo>
                <a:lnTo>
                  <a:pt x="0" y="786685"/>
                </a:lnTo>
                <a:lnTo>
                  <a:pt x="0" y="0"/>
                </a:lnTo>
                <a:close/>
              </a:path>
            </a:pathLst>
          </a:custGeom>
          <a:blipFill>
            <a:blip r:embed="rId6"/>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DAHIn7_D-iY</dc:identifier>
  <dcterms:modified xsi:type="dcterms:W3CDTF">2011-08-01T06:04:30Z</dcterms:modified>
  <cp:revision>1</cp:revision>
  <dc:title>Presented to:</dc:title>
</cp:coreProperties>
</file>